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8" r:id="rId4"/>
    <p:sldId id="259" r:id="rId5"/>
    <p:sldId id="265" r:id="rId6"/>
    <p:sldId id="262" r:id="rId7"/>
    <p:sldId id="266" r:id="rId8"/>
    <p:sldId id="267" r:id="rId9"/>
    <p:sldId id="260" r:id="rId10"/>
    <p:sldId id="261" r:id="rId11"/>
    <p:sldId id="263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5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689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52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61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9593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00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34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507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579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702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75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E8B7E-9D2E-4CBE-BD7B-CB588C2C3754}" type="datetimeFigureOut">
              <a:rPr lang="zh-TW" altLang="en-US" smtClean="0"/>
              <a:t>2026/1/15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90CF0-5960-45CB-8262-FDB0D4410F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76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911930" y="6065133"/>
            <a:ext cx="4327098" cy="335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1600" dirty="0" smtClean="0">
                <a:latin typeface="YACkoNusrzI_0"/>
              </a:rPr>
              <a:t>致力於經</a:t>
            </a:r>
            <a:r>
              <a:rPr lang="zh-TW" altLang="en-US" sz="1600" b="0" i="0" dirty="0" smtClean="0">
                <a:effectLst/>
                <a:latin typeface="YACkoNusrzI_0"/>
              </a:rPr>
              <a:t>過科學研究提供有效的健康</a:t>
            </a:r>
            <a:r>
              <a:rPr lang="zh-TW" altLang="en-US" sz="1600" dirty="0">
                <a:latin typeface="YACkoNusrzI_0"/>
              </a:rPr>
              <a:t>輔助</a:t>
            </a:r>
            <a:r>
              <a:rPr lang="zh-TW" altLang="en-US" sz="1600" b="0" i="0" dirty="0" smtClean="0">
                <a:effectLst/>
                <a:latin typeface="YACkoNusrzI_0"/>
              </a:rPr>
              <a:t>方案</a:t>
            </a:r>
            <a:endParaRPr lang="en-US" altLang="zh-TW" sz="1600" b="0" i="0" dirty="0" smtClean="0">
              <a:effectLst/>
              <a:latin typeface="YACkoNusrzI_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138" y="1026563"/>
            <a:ext cx="3903482" cy="3903482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747" y="151157"/>
            <a:ext cx="1643064" cy="653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1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69607" y="6058940"/>
            <a:ext cx="3506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i="1" dirty="0">
                <a:solidFill>
                  <a:srgbClr val="002060"/>
                </a:solidFill>
                <a:latin typeface="Arial" panose="020B0604020202020204" pitchFamily="34" charset="0"/>
              </a:rPr>
              <a:t>Please join us in pursuing health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557912" y="1692193"/>
            <a:ext cx="463798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dirty="0" err="1" smtClean="0">
                <a:solidFill>
                  <a:srgbClr val="002060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GABA</a:t>
            </a:r>
            <a:endParaRPr lang="en-US" altLang="zh-TW" sz="6600" dirty="0" smtClean="0">
              <a:solidFill>
                <a:srgbClr val="00206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  <a:p>
            <a:r>
              <a:rPr lang="zh-TW" altLang="en-US" sz="6600" dirty="0" smtClean="0">
                <a:solidFill>
                  <a:srgbClr val="002060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鎂鎂香蜂草</a:t>
            </a:r>
            <a:endParaRPr lang="zh-TW" altLang="en-US" sz="6600" dirty="0">
              <a:solidFill>
                <a:srgbClr val="00206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sp>
        <p:nvSpPr>
          <p:cNvPr id="11" name="AutoShape 2" descr="已產生圖像"/>
          <p:cNvSpPr>
            <a:spLocks noChangeAspect="1" noChangeArrowheads="1"/>
          </p:cNvSpPr>
          <p:nvPr/>
        </p:nvSpPr>
        <p:spPr bwMode="auto">
          <a:xfrm>
            <a:off x="155575" y="-144463"/>
            <a:ext cx="4425852" cy="442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919" y="301658"/>
            <a:ext cx="1682684" cy="168268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802" y="5296545"/>
            <a:ext cx="2032293" cy="123898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78" t="12361" r="22131" b="7501"/>
          <a:stretch/>
        </p:blipFill>
        <p:spPr>
          <a:xfrm>
            <a:off x="607636" y="-58217"/>
            <a:ext cx="4590853" cy="597425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640" y="5294423"/>
            <a:ext cx="1917968" cy="1228925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9226" y="5294422"/>
            <a:ext cx="2098586" cy="1228925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557912" y="4169355"/>
            <a:ext cx="510585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TW" altLang="en-US" sz="36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國際原廠    專利</a:t>
            </a:r>
            <a:r>
              <a:rPr kumimoji="0" lang="zh-TW" altLang="en-US" sz="3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足量</a:t>
            </a:r>
            <a:endParaRPr kumimoji="0" lang="zh-TW" altLang="zh-TW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0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3618" y="4903451"/>
            <a:ext cx="10187404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6000" dirty="0">
                <a:latin typeface="華康儷粗黑(P)" panose="020B0700000000000000" pitchFamily="34" charset="-120"/>
                <a:ea typeface="華康儷粗黑(P)" panose="020B0700000000000000" pitchFamily="34" charset="-120"/>
              </a:rPr>
              <a:t>節奏管理，不必等臨界線失控</a:t>
            </a:r>
          </a:p>
        </p:txBody>
      </p:sp>
      <p:sp>
        <p:nvSpPr>
          <p:cNvPr id="4" name="矩形 3"/>
          <p:cNvSpPr/>
          <p:nvPr/>
        </p:nvSpPr>
        <p:spPr>
          <a:xfrm>
            <a:off x="480768" y="906246"/>
            <a:ext cx="32805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3600" b="1" dirty="0">
                <a:latin typeface="Arial" panose="020B0604020202020204" pitchFamily="34" charset="0"/>
              </a:rPr>
              <a:t>日夜</a:t>
            </a:r>
            <a:r>
              <a:rPr lang="zh-TW" altLang="zh-TW" sz="3600" b="1" dirty="0" smtClean="0">
                <a:latin typeface="Arial" panose="020B0604020202020204" pitchFamily="34" charset="0"/>
              </a:rPr>
              <a:t>雙段</a:t>
            </a:r>
            <a:r>
              <a:rPr lang="zh-TW" altLang="zh-TW" sz="3600" b="1" dirty="0" smtClean="0">
                <a:latin typeface="Arial" panose="020B0604020202020204" pitchFamily="34" charset="0"/>
              </a:rPr>
              <a:t>調理</a:t>
            </a:r>
            <a:endParaRPr lang="en-US" altLang="zh-TW" sz="3600" b="1" dirty="0" smtClean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zh-TW" altLang="zh-TW" sz="3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3600" b="1" dirty="0">
                <a:latin typeface="Arial" panose="020B0604020202020204" pitchFamily="34" charset="0"/>
              </a:rPr>
              <a:t>非刺激</a:t>
            </a:r>
            <a:r>
              <a:rPr lang="zh-TW" altLang="zh-TW" sz="3600" b="1" dirty="0" smtClean="0">
                <a:latin typeface="Arial" panose="020B0604020202020204" pitchFamily="34" charset="0"/>
              </a:rPr>
              <a:t>型</a:t>
            </a:r>
            <a:r>
              <a:rPr lang="zh-TW" altLang="en-US" sz="3600" b="1" dirty="0" smtClean="0">
                <a:latin typeface="Arial" panose="020B0604020202020204" pitchFamily="34" charset="0"/>
              </a:rPr>
              <a:t>延展</a:t>
            </a:r>
            <a:endParaRPr lang="zh-TW" altLang="zh-TW" sz="36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253872" y="660025"/>
            <a:ext cx="652390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b="1" dirty="0"/>
              <a:t>為什麼是 </a:t>
            </a:r>
            <a:r>
              <a:rPr lang="en-US" altLang="zh-TW" sz="2800" b="1" dirty="0"/>
              <a:t>1</a:t>
            </a:r>
            <a:r>
              <a:rPr lang="zh-TW" altLang="en-US" sz="2800" b="1" dirty="0"/>
              <a:t>＋</a:t>
            </a:r>
            <a:r>
              <a:rPr lang="en-US" altLang="zh-TW" sz="2800" b="1" dirty="0"/>
              <a:t>1 </a:t>
            </a:r>
            <a:r>
              <a:rPr lang="zh-TW" altLang="en-US" sz="2800" b="1" dirty="0"/>
              <a:t>顆設計</a:t>
            </a:r>
            <a:r>
              <a:rPr lang="zh-TW" altLang="en-US" sz="2800" b="1" dirty="0" smtClean="0"/>
              <a:t>？</a:t>
            </a:r>
            <a:endParaRPr lang="en-US" altLang="zh-TW" sz="2800" b="1" dirty="0" smtClean="0"/>
          </a:p>
          <a:p>
            <a:endParaRPr lang="zh-TW" altLang="en-US" sz="2800" b="1" dirty="0"/>
          </a:p>
          <a:p>
            <a:r>
              <a:rPr lang="zh-TW" altLang="en-US" sz="2800" dirty="0"/>
              <a:t/>
            </a:r>
            <a:br>
              <a:rPr lang="zh-TW" altLang="en-US" sz="2800" dirty="0"/>
            </a:br>
            <a:r>
              <a:rPr lang="zh-TW" altLang="en-US" sz="2800" dirty="0"/>
              <a:t>不是一次性「把身體壓下來」，</a:t>
            </a:r>
            <a:br>
              <a:rPr lang="zh-TW" altLang="en-US" sz="2800" dirty="0"/>
            </a:br>
            <a:r>
              <a:rPr lang="zh-TW" altLang="en-US" sz="2800" dirty="0"/>
              <a:t>而是</a:t>
            </a:r>
            <a:r>
              <a:rPr lang="zh-TW" altLang="en-US" sz="2800" b="1" dirty="0"/>
              <a:t>陪伴身體，走過一整天的節奏變化</a:t>
            </a:r>
            <a:r>
              <a:rPr lang="zh-TW" altLang="en-US" sz="28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76267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864440" y="1979628"/>
            <a:ext cx="150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 smtClean="0"/>
              <a:t>圖示</a:t>
            </a:r>
            <a:endParaRPr lang="zh-TW" altLang="en-US" sz="3600" dirty="0"/>
          </a:p>
        </p:txBody>
      </p:sp>
      <p:sp>
        <p:nvSpPr>
          <p:cNvPr id="3" name="矩形 2"/>
          <p:cNvSpPr/>
          <p:nvPr/>
        </p:nvSpPr>
        <p:spPr>
          <a:xfrm>
            <a:off x="3171181" y="2724347"/>
            <a:ext cx="638194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/>
              <a:t>適用族群：</a:t>
            </a:r>
            <a:endParaRPr lang="zh-TW" alt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3200" dirty="0"/>
              <a:t>高壓工作型態</a:t>
            </a:r>
            <a:r>
              <a:rPr lang="zh-TW" altLang="en-US" sz="3200" dirty="0" smtClean="0"/>
              <a:t>者</a:t>
            </a:r>
            <a:r>
              <a:rPr lang="zh-TW" altLang="en-US" sz="3200" dirty="0"/>
              <a:t>、腦袋停不</a:t>
            </a:r>
            <a:r>
              <a:rPr lang="zh-TW" altLang="en-US" sz="3200" dirty="0" smtClean="0"/>
              <a:t>下來</a:t>
            </a:r>
            <a:endParaRPr lang="zh-TW" alt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3200" dirty="0"/>
              <a:t>作息與飲食不規律</a:t>
            </a:r>
            <a:r>
              <a:rPr lang="zh-TW" altLang="en-US" sz="3200" dirty="0" smtClean="0"/>
              <a:t>者</a:t>
            </a:r>
            <a:endParaRPr lang="en-US" altLang="zh-TW" sz="3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3200" dirty="0" smtClean="0"/>
              <a:t>調時差</a:t>
            </a:r>
            <a:r>
              <a:rPr lang="zh-TW" altLang="en-US" sz="32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200" dirty="0" smtClean="0"/>
              <a:t>長途搭機者</a:t>
            </a:r>
            <a:endParaRPr lang="en-US" altLang="zh-TW" sz="3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3200" dirty="0"/>
              <a:t>飲</a:t>
            </a:r>
            <a:r>
              <a:rPr lang="zh-TW" altLang="en-US" sz="3200" dirty="0" smtClean="0"/>
              <a:t>酒</a:t>
            </a:r>
            <a:r>
              <a:rPr lang="zh-TW" altLang="en-US" sz="3200" dirty="0"/>
              <a:t>頻率較高者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3200" dirty="0"/>
              <a:t>睡眠品質不穩定者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3200" dirty="0"/>
              <a:t>規律運動與健身族群</a:t>
            </a:r>
          </a:p>
        </p:txBody>
      </p:sp>
      <p:sp>
        <p:nvSpPr>
          <p:cNvPr id="5" name="矩形 4"/>
          <p:cNvSpPr/>
          <p:nvPr/>
        </p:nvSpPr>
        <p:spPr>
          <a:xfrm>
            <a:off x="864440" y="312599"/>
            <a:ext cx="1003351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800" dirty="0"/>
              <a:t>不是失眠才需要，而是生活早已超載</a:t>
            </a:r>
          </a:p>
        </p:txBody>
      </p:sp>
    </p:spTree>
    <p:extLst>
      <p:ext uri="{BB962C8B-B14F-4D97-AF65-F5344CB8AC3E}">
        <p14:creationId xmlns:p14="http://schemas.microsoft.com/office/powerpoint/2010/main" val="737998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672229" y="126972"/>
            <a:ext cx="293022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dirty="0">
                <a:solidFill>
                  <a:srgbClr val="1F1F1F"/>
                </a:solidFill>
                <a:latin typeface="Arial Unicode MS"/>
                <a:ea typeface="inherit"/>
              </a:rPr>
              <a:t>眠りに落ちるのは簡単</a:t>
            </a:r>
            <a:r>
              <a:rPr lang="ja-JP" altLang="en-US" dirty="0" smtClean="0">
                <a:solidFill>
                  <a:srgbClr val="1F1F1F"/>
                </a:solidFill>
                <a:latin typeface="Arial Unicode MS"/>
                <a:ea typeface="inherit"/>
              </a:rPr>
              <a:t>だ</a:t>
            </a:r>
            <a:endParaRPr lang="en-US" altLang="ja-JP" dirty="0" smtClean="0">
              <a:solidFill>
                <a:srgbClr val="1F1F1F"/>
              </a:solidFill>
              <a:latin typeface="Arial Unicode MS"/>
              <a:ea typeface="inherit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ja-JP" sz="900" dirty="0" smtClean="0">
              <a:solidFill>
                <a:srgbClr val="1F1F1F"/>
              </a:solidFill>
              <a:latin typeface="Arial Unicode MS"/>
              <a:ea typeface="inherit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en-US" dirty="0" smtClean="0"/>
              <a:t>エ</a:t>
            </a:r>
            <a:r>
              <a:rPr lang="ja-JP" altLang="en-US" dirty="0"/>
              <a:t>ネルギッシュな</a:t>
            </a:r>
            <a:endParaRPr lang="zh-TW" altLang="zh-TW" sz="1400" dirty="0"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597070" y="2345158"/>
            <a:ext cx="2875028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altLang="zh-TW" sz="1600" dirty="0"/>
              <a:t>Il est facile de </a:t>
            </a:r>
            <a:r>
              <a:rPr lang="fr-FR" altLang="zh-TW" sz="1600" dirty="0" smtClean="0"/>
              <a:t>s'endormir</a:t>
            </a:r>
          </a:p>
          <a:p>
            <a:endParaRPr lang="fr-FR" altLang="zh-TW" sz="900" dirty="0" smtClean="0"/>
          </a:p>
          <a:p>
            <a:pPr algn="ctr"/>
            <a:r>
              <a:rPr lang="fr-FR" altLang="zh-TW" sz="1600" dirty="0"/>
              <a:t>Très </a:t>
            </a:r>
            <a:r>
              <a:rPr lang="fr-FR" altLang="zh-TW" sz="1600" dirty="0" smtClean="0"/>
              <a:t>énergique</a:t>
            </a:r>
            <a:endParaRPr lang="zh-TW" altLang="en-US" sz="1600" dirty="0"/>
          </a:p>
        </p:txBody>
      </p:sp>
      <p:sp>
        <p:nvSpPr>
          <p:cNvPr id="16" name="矩形 15"/>
          <p:cNvSpPr/>
          <p:nvPr/>
        </p:nvSpPr>
        <p:spPr>
          <a:xfrm>
            <a:off x="5163418" y="3568580"/>
            <a:ext cx="194784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/>
              <a:t>It's easy to fall </a:t>
            </a:r>
            <a:r>
              <a:rPr lang="en-US" altLang="zh-TW" sz="1600" dirty="0" smtClean="0"/>
              <a:t>asleep</a:t>
            </a:r>
          </a:p>
          <a:p>
            <a:pPr algn="ctr"/>
            <a:endParaRPr lang="en-US" altLang="zh-TW" sz="800" dirty="0" smtClean="0"/>
          </a:p>
          <a:p>
            <a:pPr algn="ctr"/>
            <a:r>
              <a:rPr lang="en-US" altLang="zh-TW" sz="1600" dirty="0"/>
              <a:t>Very </a:t>
            </a:r>
            <a:r>
              <a:rPr lang="en-US" altLang="zh-TW" sz="1600" dirty="0" smtClean="0"/>
              <a:t>energetic</a:t>
            </a:r>
            <a:endParaRPr lang="zh-TW" altLang="en-US" sz="1600" dirty="0"/>
          </a:p>
        </p:txBody>
      </p:sp>
      <p:sp>
        <p:nvSpPr>
          <p:cNvPr id="21" name="矩形 20"/>
          <p:cNvSpPr/>
          <p:nvPr/>
        </p:nvSpPr>
        <p:spPr>
          <a:xfrm>
            <a:off x="5049548" y="4224180"/>
            <a:ext cx="22156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AE" altLang="zh-TW" sz="2800" dirty="0" smtClean="0"/>
              <a:t>من السهل أن تغفو</a:t>
            </a:r>
            <a:endParaRPr lang="zh-TW" altLang="en-US" sz="28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3" y="0"/>
            <a:ext cx="4572000" cy="685800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843509" y="3049202"/>
            <a:ext cx="2693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好</a:t>
            </a:r>
            <a:r>
              <a:rPr lang="zh-TW" altLang="en-US" sz="28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入睡 有精神</a:t>
            </a:r>
            <a:endParaRPr lang="zh-TW" altLang="en-US" sz="28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746" y="0"/>
            <a:ext cx="4572000" cy="685800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4843509" y="5515340"/>
            <a:ext cx="29107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400" b="1" dirty="0">
                <a:latin typeface="Arial" panose="020B0604020202020204" pitchFamily="34" charset="0"/>
              </a:rPr>
              <a:t>日夜</a:t>
            </a:r>
            <a:r>
              <a:rPr lang="zh-TW" altLang="zh-TW" sz="2400" b="1" dirty="0" smtClean="0">
                <a:latin typeface="Arial" panose="020B0604020202020204" pitchFamily="34" charset="0"/>
              </a:rPr>
              <a:t>雙段</a:t>
            </a:r>
            <a:r>
              <a:rPr lang="zh-TW" altLang="zh-TW" sz="2400" b="1" dirty="0">
                <a:latin typeface="Arial" panose="020B0604020202020204" pitchFamily="34" charset="0"/>
              </a:rPr>
              <a:t>設計</a:t>
            </a:r>
            <a:endParaRPr lang="zh-TW" altLang="zh-TW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400" b="1" dirty="0">
                <a:latin typeface="Arial" panose="020B0604020202020204" pitchFamily="34" charset="0"/>
              </a:rPr>
              <a:t>非刺激</a:t>
            </a:r>
            <a:r>
              <a:rPr lang="zh-TW" altLang="zh-TW" sz="2400" b="1" dirty="0" smtClean="0">
                <a:latin typeface="Arial" panose="020B0604020202020204" pitchFamily="34" charset="0"/>
              </a:rPr>
              <a:t>型</a:t>
            </a:r>
            <a:r>
              <a:rPr lang="zh-TW" altLang="en-US" sz="2400" b="1" dirty="0" smtClean="0">
                <a:latin typeface="Arial" panose="020B0604020202020204" pitchFamily="34" charset="0"/>
              </a:rPr>
              <a:t>延展</a:t>
            </a:r>
            <a:endParaRPr lang="en-US" altLang="zh-TW" sz="2400" b="1" dirty="0" smtClean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400" b="1" dirty="0" smtClean="0">
                <a:latin typeface="Arial" panose="020B0604020202020204" pitchFamily="34" charset="0"/>
              </a:rPr>
              <a:t>適合</a:t>
            </a:r>
            <a:r>
              <a:rPr lang="zh-TW" altLang="zh-TW" sz="2400" b="1" dirty="0" smtClean="0">
                <a:latin typeface="Arial" panose="020B0604020202020204" pitchFamily="34" charset="0"/>
              </a:rPr>
              <a:t>長期每日使用</a:t>
            </a:r>
            <a:endParaRPr lang="zh-TW" altLang="zh-TW" sz="2400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777048" y="882672"/>
            <a:ext cx="25036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600" dirty="0"/>
              <a:t>Man </a:t>
            </a:r>
            <a:r>
              <a:rPr lang="en-US" altLang="zh-TW" sz="1600" dirty="0" err="1"/>
              <a:t>kann</a:t>
            </a:r>
            <a:r>
              <a:rPr lang="en-US" altLang="zh-TW" sz="1600" dirty="0"/>
              <a:t> </a:t>
            </a:r>
            <a:r>
              <a:rPr lang="en-US" altLang="zh-TW" sz="1600" dirty="0" err="1"/>
              <a:t>leicht</a:t>
            </a:r>
            <a:r>
              <a:rPr lang="en-US" altLang="zh-TW" sz="1600" dirty="0"/>
              <a:t> </a:t>
            </a:r>
            <a:r>
              <a:rPr lang="en-US" altLang="zh-TW" sz="1600" dirty="0" err="1" smtClean="0"/>
              <a:t>einschlafen</a:t>
            </a:r>
            <a:endParaRPr lang="en-US" altLang="zh-TW" sz="1600" dirty="0" smtClean="0"/>
          </a:p>
          <a:p>
            <a:pPr algn="ctr"/>
            <a:endParaRPr lang="en-US" altLang="zh-TW" sz="800" dirty="0"/>
          </a:p>
          <a:p>
            <a:pPr algn="ctr"/>
            <a:r>
              <a:rPr lang="zh-TW" altLang="en-US" sz="1600" dirty="0" smtClean="0"/>
              <a:t>Sehr </a:t>
            </a:r>
            <a:r>
              <a:rPr lang="zh-TW" altLang="en-US" sz="1600" dirty="0"/>
              <a:t>energiegeladen</a:t>
            </a:r>
          </a:p>
        </p:txBody>
      </p:sp>
      <p:sp>
        <p:nvSpPr>
          <p:cNvPr id="4" name="矩形 3"/>
          <p:cNvSpPr/>
          <p:nvPr/>
        </p:nvSpPr>
        <p:spPr>
          <a:xfrm>
            <a:off x="5429543" y="1602632"/>
            <a:ext cx="16225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잠들기 </a:t>
            </a:r>
            <a:r>
              <a:rPr lang="ko-KR" altLang="en-US" dirty="0" smtClean="0"/>
              <a:t>쉽다</a:t>
            </a:r>
            <a:endParaRPr lang="en-US" altLang="ko-KR" dirty="0" smtClean="0"/>
          </a:p>
          <a:p>
            <a:endParaRPr lang="en-US" altLang="zh-TW" sz="800" dirty="0"/>
          </a:p>
          <a:p>
            <a:r>
              <a:rPr lang="zh-TW" altLang="en-US" dirty="0" smtClean="0"/>
              <a:t>매우 </a:t>
            </a:r>
            <a:r>
              <a:rPr lang="zh-TW" altLang="en-US" dirty="0"/>
              <a:t>활기차다</a:t>
            </a:r>
          </a:p>
        </p:txBody>
      </p:sp>
      <p:sp>
        <p:nvSpPr>
          <p:cNvPr id="10" name="矩形 9"/>
          <p:cNvSpPr/>
          <p:nvPr/>
        </p:nvSpPr>
        <p:spPr>
          <a:xfrm>
            <a:off x="5406411" y="4747400"/>
            <a:ext cx="13404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800" dirty="0"/>
              <a:t>نشيط جدا</a:t>
            </a:r>
          </a:p>
        </p:txBody>
      </p:sp>
    </p:spTree>
    <p:extLst>
      <p:ext uri="{BB962C8B-B14F-4D97-AF65-F5344CB8AC3E}">
        <p14:creationId xmlns:p14="http://schemas.microsoft.com/office/powerpoint/2010/main" val="2086510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31117" y="410145"/>
            <a:ext cx="49679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華康儷粗圓(P)" panose="020F0700000000000000" pitchFamily="34" charset="-120"/>
                <a:ea typeface="華康儷粗圓(P)" panose="020F0700000000000000" pitchFamily="34" charset="-120"/>
              </a:rPr>
              <a:t>清醒有活力    入眠很自然</a:t>
            </a:r>
            <a:endParaRPr kumimoji="0" lang="zh-TW" altLang="zh-TW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華康儷粗圓(P)" panose="020F0700000000000000" pitchFamily="34" charset="-120"/>
              <a:ea typeface="華康儷粗圓(P)" panose="020F0700000000000000" pitchFamily="34" charset="-12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879076" y="410146"/>
            <a:ext cx="4550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 err="1" smtClean="0">
                <a:solidFill>
                  <a:srgbClr val="002060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GABA</a:t>
            </a:r>
            <a:r>
              <a:rPr lang="zh-TW" altLang="en-US" sz="3200" dirty="0" smtClean="0">
                <a:solidFill>
                  <a:srgbClr val="002060"/>
                </a:solidFill>
                <a:latin typeface="華康儷粗黑(P)" panose="020B0700000000000000" pitchFamily="34" charset="-120"/>
                <a:ea typeface="華康儷粗黑(P)" panose="020B0700000000000000" pitchFamily="34" charset="-120"/>
              </a:rPr>
              <a:t>  鎂鎂香蜂草</a:t>
            </a:r>
            <a:endParaRPr lang="zh-TW" altLang="en-US" sz="3200" dirty="0">
              <a:solidFill>
                <a:srgbClr val="002060"/>
              </a:solidFill>
              <a:latin typeface="華康儷粗黑(P)" panose="020B0700000000000000" pitchFamily="34" charset="-120"/>
              <a:ea typeface="華康儷粗黑(P)" panose="020B0700000000000000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96" y="0"/>
            <a:ext cx="1234911" cy="1234911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205172"/>
              </p:ext>
            </p:extLst>
          </p:nvPr>
        </p:nvGraphicFramePr>
        <p:xfrm>
          <a:off x="174151" y="1284004"/>
          <a:ext cx="11844000" cy="44697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7898">
                  <a:extLst>
                    <a:ext uri="{9D8B030D-6E8A-4147-A177-3AD203B41FA5}">
                      <a16:colId xmlns:a16="http://schemas.microsoft.com/office/drawing/2014/main" val="1423956846"/>
                    </a:ext>
                  </a:extLst>
                </a:gridCol>
                <a:gridCol w="4689280">
                  <a:extLst>
                    <a:ext uri="{9D8B030D-6E8A-4147-A177-3AD203B41FA5}">
                      <a16:colId xmlns:a16="http://schemas.microsoft.com/office/drawing/2014/main" val="4231393001"/>
                    </a:ext>
                  </a:extLst>
                </a:gridCol>
                <a:gridCol w="3506822">
                  <a:extLst>
                    <a:ext uri="{9D8B030D-6E8A-4147-A177-3AD203B41FA5}">
                      <a16:colId xmlns:a16="http://schemas.microsoft.com/office/drawing/2014/main" val="2500798905"/>
                    </a:ext>
                  </a:extLst>
                </a:gridCol>
              </a:tblGrid>
              <a:tr h="3661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關鍵比較點</a:t>
                      </a:r>
                      <a:endParaRPr lang="zh-TW" sz="24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err="1" smtClean="0">
                          <a:solidFill>
                            <a:schemeClr val="bg1"/>
                          </a:solidFill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GABA</a:t>
                      </a:r>
                      <a:r>
                        <a:rPr lang="zh-TW" altLang="en-US" sz="2400" dirty="0" smtClean="0">
                          <a:solidFill>
                            <a:schemeClr val="bg1"/>
                          </a:solidFill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  鎂鎂香蜂草</a:t>
                      </a: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24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市場常見複方</a:t>
                      </a:r>
                      <a:endParaRPr lang="zh-TW" sz="24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extLst>
                  <a:ext uri="{0D108BD9-81ED-4DB2-BD59-A6C34878D82A}">
                    <a16:rowId xmlns:a16="http://schemas.microsoft.com/office/drawing/2014/main" val="3545245514"/>
                  </a:ext>
                </a:extLst>
              </a:tr>
              <a:tr h="37550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節奏管理概念（白天＋夜晚）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節奏管理：白天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有精神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、夜晚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很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放鬆</a:t>
                      </a:r>
                      <a:endParaRPr lang="zh-TW" altLang="zh-TW" sz="1600" kern="10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（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多偏助眠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）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放鬆</a:t>
                      </a:r>
                      <a:r>
                        <a:rPr lang="en-US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/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助眠入門</a:t>
                      </a:r>
                      <a:endParaRPr lang="zh-TW" altLang="zh-TW" sz="1600" kern="10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extLst>
                  <a:ext uri="{0D108BD9-81ED-4DB2-BD59-A6C34878D82A}">
                    <a16:rowId xmlns:a16="http://schemas.microsoft.com/office/drawing/2014/main" val="3058592773"/>
                  </a:ext>
                </a:extLst>
              </a:tr>
              <a:tr h="5316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0" dirty="0" err="1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GABA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有「專利＋來源國」</a:t>
                      </a:r>
                      <a:endParaRPr lang="en-US" altLang="zh-TW" sz="1600" kern="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劑量 </a:t>
                      </a:r>
                      <a:r>
                        <a:rPr lang="en-US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≥ </a:t>
                      </a:r>
                      <a:r>
                        <a:rPr lang="en-US" sz="1600" kern="0" dirty="0" err="1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500mg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韓國專利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麩胺酸發酵物</a:t>
                      </a:r>
                      <a:r>
                        <a:rPr lang="en-US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0" dirty="0" err="1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GABAEX</a:t>
                      </a:r>
                      <a:r>
                        <a:rPr lang="en-US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 </a:t>
                      </a:r>
                      <a:r>
                        <a:rPr lang="en-US" altLang="zh-TW" sz="1600" kern="0" dirty="0" err="1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500mg</a:t>
                      </a:r>
                      <a:endParaRPr lang="zh-TW" altLang="zh-TW" sz="1600" kern="10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多為</a:t>
                      </a:r>
                      <a:r>
                        <a:rPr lang="en-US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 100–</a:t>
                      </a:r>
                      <a:r>
                        <a:rPr lang="en-US" altLang="zh-TW" sz="1600" kern="0" dirty="0" err="1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300mg</a:t>
                      </a:r>
                      <a:endParaRPr lang="en-US" altLang="zh-TW" sz="1600" kern="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不一定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有專利和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標示來源</a:t>
                      </a:r>
                      <a:endParaRPr lang="zh-TW" altLang="zh-TW" sz="1600" kern="10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alt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extLst>
                  <a:ext uri="{0D108BD9-81ED-4DB2-BD59-A6C34878D82A}">
                    <a16:rowId xmlns:a16="http://schemas.microsoft.com/office/drawing/2014/main" val="259641420"/>
                  </a:ext>
                </a:extLst>
              </a:tr>
              <a:tr h="3231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鎂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有「專利＋來源國」劑量明確標示</a:t>
                      </a:r>
                      <a:endParaRPr lang="zh-TW" altLang="zh-TW" sz="1600" kern="10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義大利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專利速可包覆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鎂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 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高吸收型態</a:t>
                      </a:r>
                      <a:r>
                        <a:rPr lang="en-US" sz="1600" kern="0" dirty="0" err="1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200mg</a:t>
                      </a:r>
                      <a:endParaRPr lang="en-US" sz="1600" kern="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一般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鎂（型態不一定清楚）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extLst>
                  <a:ext uri="{0D108BD9-81ED-4DB2-BD59-A6C34878D82A}">
                    <a16:rowId xmlns:a16="http://schemas.microsoft.com/office/drawing/2014/main" val="4256643249"/>
                  </a:ext>
                </a:extLst>
              </a:tr>
              <a:tr h="3231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香蜂草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來源</a:t>
                      </a:r>
                      <a:r>
                        <a:rPr lang="zh-TW" altLang="en-US" sz="1600" kern="0" dirty="0" smtClean="0">
                          <a:effectLst/>
                          <a:latin typeface="PMingLiU" panose="02020500000000000000" pitchFamily="18" charset="-120"/>
                          <a:ea typeface="PMingLiU" panose="02020500000000000000" pitchFamily="18" charset="-120"/>
                        </a:rPr>
                        <a:t>、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實用量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清楚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法國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原廠香蜂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草</a:t>
                      </a:r>
                      <a:r>
                        <a:rPr lang="en-US" altLang="zh-TW" sz="1600" kern="0" dirty="0" err="1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200mg</a:t>
                      </a:r>
                      <a:endParaRPr lang="zh-TW" altLang="zh-TW" sz="1600" kern="10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草本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含量較低或來源未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標示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未達標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extLst>
                  <a:ext uri="{0D108BD9-81ED-4DB2-BD59-A6C34878D82A}">
                    <a16:rowId xmlns:a16="http://schemas.microsoft.com/office/drawing/2014/main" val="1701178933"/>
                  </a:ext>
                </a:extLst>
              </a:tr>
              <a:tr h="31858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天然安全：不含藥性，無</a:t>
                      </a:r>
                      <a:r>
                        <a:rPr lang="zh-TW" sz="1600" kern="10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依賴性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原廠驗證</a:t>
                      </a:r>
                      <a:endParaRPr lang="zh-TW" altLang="en-US" sz="1600" dirty="0">
                        <a:latin typeface="華康儷粗圓(P)" panose="020F0700000000000000" pitchFamily="34" charset="-120"/>
                        <a:ea typeface="華康儷粗圓(P)" panose="020F0700000000000000" pitchFamily="34" charset="-120"/>
                      </a:endParaRPr>
                    </a:p>
                  </a:txBody>
                  <a:tcPr marL="16074" marR="16074" marT="8037" marB="803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(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不明確</a:t>
                      </a:r>
                      <a:r>
                        <a:rPr lang="en-US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kern="10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074" marR="16074" marT="8037" marB="8037"/>
                </a:tc>
                <a:extLst>
                  <a:ext uri="{0D108BD9-81ED-4DB2-BD59-A6C34878D82A}">
                    <a16:rowId xmlns:a16="http://schemas.microsoft.com/office/drawing/2014/main" val="2893534827"/>
                  </a:ext>
                </a:extLst>
              </a:tr>
              <a:tr h="3532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成分「國別＋劑量」全透明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清楚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標示：國別＋專利＋劑量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多數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只寫成分名，資訊較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少</a:t>
                      </a:r>
                      <a:endParaRPr lang="en-US" altLang="zh-TW" sz="1600" kern="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1674" marR="1674" marT="1674" marB="1674" anchor="ctr"/>
                </a:tc>
                <a:extLst>
                  <a:ext uri="{0D108BD9-81ED-4DB2-BD59-A6C34878D82A}">
                    <a16:rowId xmlns:a16="http://schemas.microsoft.com/office/drawing/2014/main" val="1186488008"/>
                  </a:ext>
                </a:extLst>
              </a:tr>
              <a:tr h="5027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適合族群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高壓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忙碌、應酬、作息飲食不規律、夜晚難入眠、運動健身族群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想先試試放鬆的人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21522962"/>
                  </a:ext>
                </a:extLst>
              </a:tr>
              <a:tr h="3686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產品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差別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「三大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原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廠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」＋「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專利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」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＋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「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足量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」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＋「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價格實惠</a:t>
                      </a:r>
                      <a:r>
                        <a:rPr lang="zh-TW" alt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」</a:t>
                      </a:r>
                      <a:endParaRPr lang="en-US" altLang="zh-TW" sz="1600" kern="0" dirty="0" smtClean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以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低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價格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與入門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接受</a:t>
                      </a:r>
                      <a:r>
                        <a:rPr lang="zh-TW" altLang="en-US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價格</a:t>
                      </a:r>
                      <a:r>
                        <a:rPr lang="zh-TW" sz="1600" kern="0" dirty="0" smtClean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度</a:t>
                      </a:r>
                      <a:r>
                        <a:rPr lang="zh-TW" sz="1600" kern="0" dirty="0">
                          <a:effectLst/>
                          <a:latin typeface="華康儷粗圓(P)" panose="020F0700000000000000" pitchFamily="34" charset="-120"/>
                          <a:ea typeface="華康儷粗圓(P)" panose="020F0700000000000000" pitchFamily="34" charset="-120"/>
                        </a:rPr>
                        <a:t>取勝</a:t>
                      </a:r>
                      <a:endParaRPr lang="zh-TW" sz="1600" kern="100" dirty="0">
                        <a:effectLst/>
                        <a:latin typeface="華康儷粗圓(P)" panose="020F0700000000000000" pitchFamily="34" charset="-120"/>
                        <a:ea typeface="華康儷粗圓(P)" panose="020F0700000000000000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26871875"/>
                  </a:ext>
                </a:extLst>
              </a:tr>
            </a:tbl>
          </a:graphicData>
        </a:graphic>
      </p:graphicFrame>
      <p:pic>
        <p:nvPicPr>
          <p:cNvPr id="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843" y="1699181"/>
            <a:ext cx="443551" cy="308557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242" y="4988156"/>
            <a:ext cx="443551" cy="308557"/>
          </a:xfrm>
          <a:prstGeom prst="rect">
            <a:avLst/>
          </a:prstGeom>
        </p:spPr>
      </p:pic>
      <p:pic>
        <p:nvPicPr>
          <p:cNvPr id="30" name="圖片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702" y="4381844"/>
            <a:ext cx="443551" cy="308557"/>
          </a:xfrm>
          <a:prstGeom prst="rect">
            <a:avLst/>
          </a:prstGeom>
        </p:spPr>
      </p:pic>
      <p:pic>
        <p:nvPicPr>
          <p:cNvPr id="31" name="圖片 3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465" y="3714977"/>
            <a:ext cx="443551" cy="308557"/>
          </a:xfrm>
          <a:prstGeom prst="rect">
            <a:avLst/>
          </a:prstGeom>
        </p:spPr>
      </p:pic>
      <p:pic>
        <p:nvPicPr>
          <p:cNvPr id="33" name="圖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151" y="3318463"/>
            <a:ext cx="443551" cy="308557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043" y="2091713"/>
            <a:ext cx="443551" cy="308557"/>
          </a:xfrm>
          <a:prstGeom prst="rect">
            <a:avLst/>
          </a:prstGeom>
        </p:spPr>
      </p:pic>
      <p:pic>
        <p:nvPicPr>
          <p:cNvPr id="35" name="圖片 3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394" y="2822936"/>
            <a:ext cx="443551" cy="308557"/>
          </a:xfrm>
          <a:prstGeom prst="rect">
            <a:avLst/>
          </a:prstGeom>
        </p:spPr>
      </p:pic>
      <p:pic>
        <p:nvPicPr>
          <p:cNvPr id="38" name="圖片 3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817" y="5445226"/>
            <a:ext cx="443551" cy="30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58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/>
          <p:cNvSpPr/>
          <p:nvPr/>
        </p:nvSpPr>
        <p:spPr>
          <a:xfrm>
            <a:off x="1395167" y="1329179"/>
            <a:ext cx="2262433" cy="2413262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/>
          <p:cNvSpPr/>
          <p:nvPr/>
        </p:nvSpPr>
        <p:spPr>
          <a:xfrm>
            <a:off x="8716653" y="1245909"/>
            <a:ext cx="2262433" cy="241326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橢圓 3"/>
          <p:cNvSpPr/>
          <p:nvPr/>
        </p:nvSpPr>
        <p:spPr>
          <a:xfrm>
            <a:off x="5055910" y="1329179"/>
            <a:ext cx="2262433" cy="241326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1668543" y="1944708"/>
            <a:ext cx="18570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0" dirty="0" err="1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GABA</a:t>
            </a:r>
            <a:endParaRPr lang="zh-TW" altLang="en-US" sz="60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5231877" y="1935632"/>
            <a:ext cx="18570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6000" dirty="0">
                <a:latin typeface="華康儷粗圓" panose="020F0709000000000000" pitchFamily="49" charset="-120"/>
                <a:ea typeface="華康儷粗圓" panose="020F0709000000000000" pitchFamily="49" charset="-120"/>
              </a:rPr>
              <a:t>鎂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8716653" y="1944706"/>
            <a:ext cx="2262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54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香蜂草</a:t>
            </a:r>
            <a:endParaRPr lang="zh-TW" altLang="en-US" sz="54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sp>
        <p:nvSpPr>
          <p:cNvPr id="9" name="五角星形 8"/>
          <p:cNvSpPr/>
          <p:nvPr/>
        </p:nvSpPr>
        <p:spPr>
          <a:xfrm>
            <a:off x="528451" y="2122002"/>
            <a:ext cx="537328" cy="480767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0" name="五角星形 9"/>
          <p:cNvSpPr/>
          <p:nvPr/>
        </p:nvSpPr>
        <p:spPr>
          <a:xfrm>
            <a:off x="1044568" y="1546558"/>
            <a:ext cx="537328" cy="480767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1" name="五角星形 10"/>
          <p:cNvSpPr/>
          <p:nvPr/>
        </p:nvSpPr>
        <p:spPr>
          <a:xfrm>
            <a:off x="1524471" y="987884"/>
            <a:ext cx="537328" cy="480767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2" name="五角星形 11"/>
          <p:cNvSpPr/>
          <p:nvPr/>
        </p:nvSpPr>
        <p:spPr>
          <a:xfrm>
            <a:off x="2053707" y="536040"/>
            <a:ext cx="537328" cy="480767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3" name="五角星形 12"/>
          <p:cNvSpPr/>
          <p:nvPr/>
        </p:nvSpPr>
        <p:spPr>
          <a:xfrm>
            <a:off x="2582943" y="119772"/>
            <a:ext cx="537328" cy="480767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4906654" y="360155"/>
            <a:ext cx="2411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 smtClean="0">
                <a:latin typeface="華康儷粗圓" panose="020F0709000000000000" pitchFamily="49" charset="-120"/>
                <a:ea typeface="華康儷粗圓" panose="020F0709000000000000" pitchFamily="49" charset="-120"/>
              </a:rPr>
              <a:t>五星好評</a:t>
            </a:r>
            <a:endParaRPr lang="zh-TW" altLang="en-US" sz="4000" dirty="0">
              <a:latin typeface="華康儷粗圓" panose="020F0709000000000000" pitchFamily="49" charset="-120"/>
              <a:ea typeface="華康儷粗圓" panose="020F0709000000000000" pitchFamily="49" charset="-120"/>
            </a:endParaRP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07692">
            <a:off x="527407" y="410272"/>
            <a:ext cx="1314450" cy="914400"/>
          </a:xfrm>
          <a:prstGeom prst="rect">
            <a:avLst/>
          </a:prstGeom>
        </p:spPr>
      </p:pic>
      <p:pic>
        <p:nvPicPr>
          <p:cNvPr id="18" name="圖片 17"/>
          <p:cNvPicPr/>
          <p:nvPr/>
        </p:nvPicPr>
        <p:blipFill rotWithShape="1">
          <a:blip r:embed="rId3"/>
          <a:srcRect r="29256" b="81522"/>
          <a:stretch/>
        </p:blipFill>
        <p:spPr>
          <a:xfrm>
            <a:off x="443548" y="3839833"/>
            <a:ext cx="3270474" cy="895181"/>
          </a:xfrm>
          <a:prstGeom prst="rect">
            <a:avLst/>
          </a:prstGeom>
        </p:spPr>
      </p:pic>
      <p:pic>
        <p:nvPicPr>
          <p:cNvPr id="19" name="圖片 18"/>
          <p:cNvPicPr/>
          <p:nvPr/>
        </p:nvPicPr>
        <p:blipFill rotWithShape="1">
          <a:blip r:embed="rId4"/>
          <a:srcRect b="82971"/>
          <a:stretch/>
        </p:blipFill>
        <p:spPr>
          <a:xfrm>
            <a:off x="4232635" y="3870083"/>
            <a:ext cx="3926264" cy="68306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571" y="3959820"/>
            <a:ext cx="3109449" cy="839191"/>
          </a:xfrm>
          <a:prstGeom prst="rect">
            <a:avLst/>
          </a:prstGeom>
        </p:spPr>
      </p:pic>
      <p:pic>
        <p:nvPicPr>
          <p:cNvPr id="20" name="圖片 19"/>
          <p:cNvPicPr/>
          <p:nvPr/>
        </p:nvPicPr>
        <p:blipFill rotWithShape="1">
          <a:blip r:embed="rId6"/>
          <a:srcRect l="54511" t="9261" r="1167" b="5452"/>
          <a:stretch/>
        </p:blipFill>
        <p:spPr bwMode="auto">
          <a:xfrm>
            <a:off x="9192051" y="4803545"/>
            <a:ext cx="2214381" cy="18209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圖片 20"/>
          <p:cNvPicPr/>
          <p:nvPr/>
        </p:nvPicPr>
        <p:blipFill>
          <a:blip r:embed="rId7"/>
          <a:stretch>
            <a:fillRect/>
          </a:stretch>
        </p:blipFill>
        <p:spPr>
          <a:xfrm>
            <a:off x="8716653" y="196854"/>
            <a:ext cx="3154972" cy="956717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8716928" y="3065882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鎮</a:t>
            </a:r>
            <a:r>
              <a:rPr lang="zh-TW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靜</a:t>
            </a:r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zh-TW" altLang="zh-TW" dirty="0">
                <a:latin typeface="Calibri" panose="020F0502020204030204" pitchFamily="34" charset="0"/>
                <a:cs typeface="Times New Roman" panose="02020603050405020304" pitchFamily="18" charset="0"/>
              </a:rPr>
              <a:t>助眠</a:t>
            </a:r>
            <a:r>
              <a:rPr lang="zh-TW" altLang="zh-TW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、</a:t>
            </a:r>
            <a:r>
              <a:rPr lang="zh-TW" altLang="en-US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好心情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1451864" y="301504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放鬆、</a:t>
            </a:r>
            <a:r>
              <a:rPr lang="zh-TW" altLang="en-US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撫慰</a:t>
            </a:r>
            <a:r>
              <a:rPr lang="zh-TW" altLang="zh-TW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zh-TW" altLang="en-US" kern="0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好</a:t>
            </a:r>
            <a:r>
              <a:rPr lang="zh-TW" altLang="en-US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入</a:t>
            </a:r>
            <a:r>
              <a:rPr lang="zh-TW" altLang="zh-TW" kern="0" dirty="0" smtClean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睡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5056185" y="3078937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0A0A0A"/>
                </a:solidFill>
                <a:latin typeface="Arial" panose="020B0604020202020204" pitchFamily="34" charset="0"/>
              </a:rPr>
              <a:t>有助於身體正常代謝</a:t>
            </a:r>
            <a:endParaRPr lang="zh-TW" altLang="en-US" dirty="0"/>
          </a:p>
        </p:txBody>
      </p:sp>
      <p:pic>
        <p:nvPicPr>
          <p:cNvPr id="25" name="圖片 24"/>
          <p:cNvPicPr/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astelsSmooth/>
                    </a14:imgEffect>
                  </a14:imgLayer>
                </a14:imgProps>
              </a:ext>
            </a:extLst>
          </a:blip>
          <a:srcRect t="35126"/>
          <a:stretch/>
        </p:blipFill>
        <p:spPr>
          <a:xfrm>
            <a:off x="86148" y="4735136"/>
            <a:ext cx="3951301" cy="2084736"/>
          </a:xfrm>
          <a:prstGeom prst="rect">
            <a:avLst/>
          </a:prstGeom>
        </p:spPr>
      </p:pic>
      <p:pic>
        <p:nvPicPr>
          <p:cNvPr id="26" name="圖片 25"/>
          <p:cNvPicPr/>
          <p:nvPr/>
        </p:nvPicPr>
        <p:blipFill rotWithShape="1">
          <a:blip r:embed="rId4"/>
          <a:srcRect t="36644" r="12173"/>
          <a:stretch/>
        </p:blipFill>
        <p:spPr>
          <a:xfrm>
            <a:off x="4764238" y="4535264"/>
            <a:ext cx="3597338" cy="1983264"/>
          </a:xfrm>
          <a:prstGeom prst="rect">
            <a:avLst/>
          </a:prstGeom>
        </p:spPr>
      </p:pic>
      <p:sp>
        <p:nvSpPr>
          <p:cNvPr id="27" name="文字方塊 26"/>
          <p:cNvSpPr txBox="1"/>
          <p:nvPr/>
        </p:nvSpPr>
        <p:spPr>
          <a:xfrm>
            <a:off x="3845674" y="5714040"/>
            <a:ext cx="80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 smtClean="0"/>
              <a:t>數據部分</a:t>
            </a:r>
            <a:endParaRPr lang="en-US" altLang="zh-TW" sz="1200" dirty="0" smtClean="0"/>
          </a:p>
          <a:p>
            <a:r>
              <a:rPr lang="zh-TW" altLang="en-US" sz="1200" dirty="0" smtClean="0"/>
              <a:t>礙於法規  </a:t>
            </a:r>
            <a:endParaRPr lang="en-US" altLang="zh-TW" sz="1200" dirty="0" smtClean="0"/>
          </a:p>
          <a:p>
            <a:r>
              <a:rPr lang="zh-TW" altLang="en-US" sz="1200" dirty="0" smtClean="0"/>
              <a:t>私下索取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1444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90160" y="575830"/>
            <a:ext cx="799078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b="1" dirty="0"/>
              <a:t>為什麼是 </a:t>
            </a:r>
            <a:r>
              <a:rPr lang="en-US" altLang="zh-TW" sz="2800" b="1" dirty="0"/>
              <a:t>1</a:t>
            </a:r>
            <a:r>
              <a:rPr lang="zh-TW" altLang="en-US" sz="2800" b="1" dirty="0"/>
              <a:t>＋</a:t>
            </a:r>
            <a:r>
              <a:rPr lang="en-US" altLang="zh-TW" sz="2800" b="1" dirty="0"/>
              <a:t>1 </a:t>
            </a:r>
            <a:r>
              <a:rPr lang="zh-TW" altLang="en-US" sz="2800" b="1" dirty="0"/>
              <a:t>顆設計</a:t>
            </a:r>
            <a:r>
              <a:rPr lang="zh-TW" altLang="en-US" sz="2800" b="1" dirty="0" smtClean="0"/>
              <a:t>？</a:t>
            </a:r>
            <a:endParaRPr lang="en-US" altLang="zh-TW" sz="2800" b="1" dirty="0" smtClean="0"/>
          </a:p>
          <a:p>
            <a:endParaRPr lang="zh-TW" altLang="en-US" sz="2800" b="1" dirty="0"/>
          </a:p>
          <a:p>
            <a:r>
              <a:rPr lang="zh-TW" altLang="en-US" sz="2800" dirty="0"/>
              <a:t/>
            </a:r>
            <a:br>
              <a:rPr lang="zh-TW" altLang="en-US" sz="2800" dirty="0"/>
            </a:br>
            <a:r>
              <a:rPr lang="zh-TW" altLang="en-US" sz="2800" dirty="0"/>
              <a:t>不是一次性「把身體壓下來」，</a:t>
            </a:r>
            <a:br>
              <a:rPr lang="zh-TW" altLang="en-US" sz="2800" dirty="0"/>
            </a:br>
            <a:r>
              <a:rPr lang="zh-TW" altLang="en-US" sz="2800" dirty="0"/>
              <a:t>而是</a:t>
            </a:r>
            <a:r>
              <a:rPr lang="zh-TW" altLang="en-US" sz="2800" b="1" dirty="0"/>
              <a:t>陪伴身體，走過一整天的節奏變化</a:t>
            </a:r>
            <a:r>
              <a:rPr lang="zh-TW" altLang="en-US" sz="2800" dirty="0"/>
              <a:t>。</a:t>
            </a:r>
          </a:p>
        </p:txBody>
      </p:sp>
      <p:sp>
        <p:nvSpPr>
          <p:cNvPr id="3" name="矩形 2"/>
          <p:cNvSpPr/>
          <p:nvPr/>
        </p:nvSpPr>
        <p:spPr>
          <a:xfrm>
            <a:off x="2190160" y="4548136"/>
            <a:ext cx="45028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b="1" dirty="0"/>
              <a:t>白天快斷線時，一顆就好</a:t>
            </a:r>
            <a:r>
              <a:rPr lang="zh-TW" altLang="en-US" sz="2800" dirty="0"/>
              <a:t/>
            </a:r>
            <a:br>
              <a:rPr lang="zh-TW" altLang="en-US" sz="2800" dirty="0"/>
            </a:br>
            <a:r>
              <a:rPr lang="zh-TW" altLang="en-US" sz="2800" b="1" dirty="0"/>
              <a:t>夜晚該放鬆時，一顆就好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31340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322665" y="6029318"/>
            <a:ext cx="48693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TW" altLang="en-US" sz="4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醫師藥學</a:t>
            </a:r>
            <a:r>
              <a:rPr kumimoji="0" lang="zh-TW" altLang="zh-TW" sz="4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界</a:t>
            </a:r>
            <a:r>
              <a:rPr lang="zh-TW" altLang="en-US" sz="40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zh-TW" altLang="en-US" sz="4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kumimoji="0" lang="zh-TW" altLang="zh-TW" sz="4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推薦</a:t>
            </a:r>
            <a:r>
              <a:rPr lang="zh-TW" altLang="en-US" sz="4000" b="1" dirty="0">
                <a:solidFill>
                  <a:srgbClr val="000000"/>
                </a:solidFill>
                <a:latin typeface="Arial" panose="020B0604020202020204" pitchFamily="34" charset="0"/>
              </a:rPr>
              <a:t>文</a:t>
            </a:r>
            <a:endParaRPr kumimoji="0" lang="en-US" altLang="zh-TW" sz="40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05599" y="42949"/>
            <a:ext cx="634019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解壓縮</a:t>
            </a:r>
            <a:r>
              <a:rPr lang="zh-TW" altLang="zh-TW" sz="4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・</a:t>
            </a:r>
            <a:r>
              <a:rPr lang="zh-TW" altLang="en-US" sz="4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日夜</a:t>
            </a:r>
            <a:r>
              <a:rPr lang="zh-TW" altLang="en-US" sz="4000" b="1" dirty="0" smtClean="0"/>
              <a:t>節奏管理</a:t>
            </a:r>
            <a:r>
              <a:rPr lang="zh-TW" altLang="zh-TW" sz="40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配方</a:t>
            </a:r>
            <a:endParaRPr lang="zh-TW" altLang="en-US" sz="4000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58" y="704749"/>
            <a:ext cx="2732761" cy="308587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29" y="611985"/>
            <a:ext cx="2699835" cy="3105591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874" y="665900"/>
            <a:ext cx="2833699" cy="305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41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2441544" y="99915"/>
            <a:ext cx="2592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 err="1" smtClean="0"/>
              <a:t>SGS</a:t>
            </a:r>
            <a:r>
              <a:rPr lang="zh-TW" altLang="en-US" sz="4000" dirty="0" smtClean="0"/>
              <a:t>檢驗</a:t>
            </a:r>
            <a:endParaRPr lang="en-US" altLang="zh-TW" sz="4000" dirty="0" smtClean="0"/>
          </a:p>
        </p:txBody>
      </p:sp>
      <p:sp>
        <p:nvSpPr>
          <p:cNvPr id="4" name="矩形 3"/>
          <p:cNvSpPr/>
          <p:nvPr/>
        </p:nvSpPr>
        <p:spPr>
          <a:xfrm>
            <a:off x="2183865" y="117242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重金屬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156751" y="117242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0A0A0A"/>
                </a:solidFill>
                <a:latin typeface="Arial" panose="020B0604020202020204" pitchFamily="34" charset="0"/>
              </a:rPr>
              <a:t>微生物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23184" y="382987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>
                <a:solidFill>
                  <a:srgbClr val="0A0A0A"/>
                </a:solidFill>
                <a:latin typeface="Arial" panose="020B0604020202020204" pitchFamily="34" charset="0"/>
              </a:rPr>
              <a:t>塑化劑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3602753" y="382987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農藥殘留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469186" y="117242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西藥</a:t>
            </a:r>
            <a:r>
              <a:rPr lang="zh-TW" altLang="en-US" b="1" dirty="0">
                <a:solidFill>
                  <a:srgbClr val="0A0A0A"/>
                </a:solidFill>
                <a:latin typeface="Arial" panose="020B0604020202020204" pitchFamily="34" charset="0"/>
              </a:rPr>
              <a:t>成分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7287598" y="5631784"/>
            <a:ext cx="27901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4800" b="1" dirty="0" smtClean="0">
                <a:solidFill>
                  <a:srgbClr val="0A0A0A"/>
                </a:solidFill>
                <a:latin typeface="Arial" panose="020B0604020202020204" pitchFamily="34" charset="0"/>
              </a:rPr>
              <a:t>先驗後售</a:t>
            </a:r>
            <a:endParaRPr lang="zh-TW" altLang="en-US" sz="4800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207" y="807801"/>
            <a:ext cx="3372321" cy="2457793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3"/>
          <a:srcRect b="50962"/>
          <a:stretch/>
        </p:blipFill>
        <p:spPr>
          <a:xfrm>
            <a:off x="7287598" y="3173991"/>
            <a:ext cx="4142294" cy="131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0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336734"/>
              </p:ext>
            </p:extLst>
          </p:nvPr>
        </p:nvGraphicFramePr>
        <p:xfrm>
          <a:off x="6598764" y="1642143"/>
          <a:ext cx="5015057" cy="33461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9118">
                  <a:extLst>
                    <a:ext uri="{9D8B030D-6E8A-4147-A177-3AD203B41FA5}">
                      <a16:colId xmlns:a16="http://schemas.microsoft.com/office/drawing/2014/main" val="3482760519"/>
                    </a:ext>
                  </a:extLst>
                </a:gridCol>
                <a:gridCol w="995306">
                  <a:extLst>
                    <a:ext uri="{9D8B030D-6E8A-4147-A177-3AD203B41FA5}">
                      <a16:colId xmlns:a16="http://schemas.microsoft.com/office/drawing/2014/main" val="3754136906"/>
                    </a:ext>
                  </a:extLst>
                </a:gridCol>
                <a:gridCol w="2260466">
                  <a:extLst>
                    <a:ext uri="{9D8B030D-6E8A-4147-A177-3AD203B41FA5}">
                      <a16:colId xmlns:a16="http://schemas.microsoft.com/office/drawing/2014/main" val="3421813466"/>
                    </a:ext>
                  </a:extLst>
                </a:gridCol>
                <a:gridCol w="100167">
                  <a:extLst>
                    <a:ext uri="{9D8B030D-6E8A-4147-A177-3AD203B41FA5}">
                      <a16:colId xmlns:a16="http://schemas.microsoft.com/office/drawing/2014/main" val="2296312637"/>
                    </a:ext>
                  </a:extLst>
                </a:gridCol>
              </a:tblGrid>
              <a:tr h="184972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kern="0" dirty="0" smtClea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營養成分標示</a:t>
                      </a:r>
                      <a:endParaRPr lang="zh-TW" sz="1600" kern="100" dirty="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 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5984004"/>
                  </a:ext>
                </a:extLst>
              </a:tr>
              <a:tr h="3470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韓國</a:t>
                      </a:r>
                      <a:r>
                        <a:rPr lang="en-US" sz="1600" kern="100" dirty="0" err="1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GABAEX</a:t>
                      </a:r>
                      <a:r>
                        <a:rPr lang="en-US" sz="1600" kern="100" dirty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®</a:t>
                      </a:r>
                      <a:endParaRPr lang="zh-TW" sz="1600" kern="100" dirty="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麩胺酸發酵物</a:t>
                      </a:r>
                      <a:endParaRPr lang="zh-TW" sz="1600" kern="100" dirty="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500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毫克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＊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 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7798203"/>
                  </a:ext>
                </a:extLst>
              </a:tr>
              <a:tr h="3470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SideMag®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速可包覆鎂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200</a:t>
                      </a:r>
                      <a:r>
                        <a:rPr lang="zh-TW" sz="1600" kern="0" dirty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毫克</a:t>
                      </a:r>
                      <a:endParaRPr lang="zh-TW" sz="1600" kern="100" dirty="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＊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 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2134"/>
                  </a:ext>
                </a:extLst>
              </a:tr>
              <a:tr h="3470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Lemon Balm Dry Ext.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香蜂草萃取物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200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毫克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＊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 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71931648"/>
                  </a:ext>
                </a:extLst>
              </a:tr>
              <a:tr h="1849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＊參考值未訂定</a:t>
                      </a:r>
                      <a:endParaRPr lang="zh-TW" sz="1600" kern="100" dirty="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endParaRPr lang="zh-TW" sz="1600" kern="100" dirty="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 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55378688"/>
                  </a:ext>
                </a:extLst>
              </a:tr>
              <a:tr h="352326">
                <a:tc rowSpan="5" gridSpan="3">
                  <a:txBody>
                    <a:bodyPr/>
                    <a:lstStyle/>
                    <a:p>
                      <a:pPr>
                        <a:spcAft>
                          <a:spcPts val="1200"/>
                        </a:spcAft>
                      </a:pP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每日參考值：熱量</a:t>
                      </a:r>
                      <a:r>
                        <a:rPr lang="en-US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 2000 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大卡、蛋白質</a:t>
                      </a:r>
                      <a:r>
                        <a:rPr lang="en-US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 60 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公克、脂肪</a:t>
                      </a:r>
                      <a:r>
                        <a:rPr lang="en-US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 60 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公克、飽和脂肪</a:t>
                      </a:r>
                      <a:r>
                        <a:rPr lang="en-US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 18 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公克、碳水化合物</a:t>
                      </a:r>
                      <a:r>
                        <a:rPr lang="en-US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 300 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公克、膳食纖維</a:t>
                      </a:r>
                      <a:r>
                        <a:rPr lang="en-US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 25 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公克、鈉</a:t>
                      </a:r>
                      <a:r>
                        <a:rPr lang="en-US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 2000 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毫克、鎂</a:t>
                      </a:r>
                      <a:r>
                        <a:rPr lang="en-US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390 </a:t>
                      </a:r>
                      <a:r>
                        <a:rPr lang="zh-TW" sz="1600" kern="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毫克。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tc rowSpan="5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600" kern="100">
                          <a:effectLst/>
                          <a:latin typeface="華康儷粗圓" panose="020F0709000000000000" pitchFamily="49" charset="-120"/>
                          <a:ea typeface="華康儷粗圓" panose="020F0709000000000000" pitchFamily="49" charset="-120"/>
                        </a:rPr>
                        <a:t> </a:t>
                      </a:r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68304427"/>
                  </a:ext>
                </a:extLst>
              </a:tr>
              <a:tr h="184972">
                <a:tc gridSpan="3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extLst>
                  <a:ext uri="{0D108BD9-81ED-4DB2-BD59-A6C34878D82A}">
                    <a16:rowId xmlns:a16="http://schemas.microsoft.com/office/drawing/2014/main" val="3293257948"/>
                  </a:ext>
                </a:extLst>
              </a:tr>
              <a:tr h="184972">
                <a:tc gridSpan="3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extLst>
                  <a:ext uri="{0D108BD9-81ED-4DB2-BD59-A6C34878D82A}">
                    <a16:rowId xmlns:a16="http://schemas.microsoft.com/office/drawing/2014/main" val="628513564"/>
                  </a:ext>
                </a:extLst>
              </a:tr>
              <a:tr h="184972">
                <a:tc gridSpan="3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sz="1600" kern="10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extLst>
                  <a:ext uri="{0D108BD9-81ED-4DB2-BD59-A6C34878D82A}">
                    <a16:rowId xmlns:a16="http://schemas.microsoft.com/office/drawing/2014/main" val="2166370814"/>
                  </a:ext>
                </a:extLst>
              </a:tr>
              <a:tr h="184972">
                <a:tc gridSpan="3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sz="1600" kern="100" dirty="0">
                        <a:effectLst/>
                        <a:latin typeface="華康儷粗圓" panose="020F0709000000000000" pitchFamily="49" charset="-120"/>
                        <a:ea typeface="華康儷粗圓" panose="020F0709000000000000" pitchFamily="49" charset="-120"/>
                        <a:cs typeface="Arial" panose="020B0604020202020204" pitchFamily="34" charset="0"/>
                      </a:endParaRPr>
                    </a:p>
                  </a:txBody>
                  <a:tcPr marL="14048" marR="14048" marT="7526" marB="0" anchor="ctr"/>
                </a:tc>
                <a:extLst>
                  <a:ext uri="{0D108BD9-81ED-4DB2-BD59-A6C34878D82A}">
                    <a16:rowId xmlns:a16="http://schemas.microsoft.com/office/drawing/2014/main" val="1720117373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70787" y="622168"/>
            <a:ext cx="5520965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TW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品名：</a:t>
            </a:r>
            <a:r>
              <a:rPr lang="en-US" altLang="zh-TW" sz="2000" b="1" kern="100" dirty="0" err="1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UFLOW</a:t>
            </a:r>
            <a:r>
              <a:rPr lang="en-US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</a:t>
            </a:r>
            <a:r>
              <a:rPr lang="en-US" altLang="zh-TW" sz="2000" b="1" kern="100" dirty="0" err="1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GABA</a:t>
            </a:r>
            <a:r>
              <a:rPr lang="zh-TW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鎂鎂香蜂草</a:t>
            </a:r>
            <a:r>
              <a:rPr lang="en-US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(</a:t>
            </a:r>
            <a:r>
              <a:rPr lang="zh-TW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膠囊</a:t>
            </a:r>
            <a:r>
              <a:rPr lang="en-US" altLang="zh-TW" sz="2000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成分：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韓國</a:t>
            </a:r>
            <a:r>
              <a:rPr lang="en-US" altLang="zh-TW" kern="100" dirty="0" err="1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GABAEX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®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麩胺酸發酵物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含</a:t>
            </a:r>
            <a:r>
              <a:rPr lang="en-US" altLang="zh-TW" kern="100" dirty="0" err="1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GABA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含麩胺酸發酵物、糊精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、</a:t>
            </a:r>
            <a:r>
              <a:rPr lang="en-US" altLang="zh-TW" kern="100" dirty="0" err="1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SideMag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®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速可包覆鎂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含氧化鎂、脂肪酸蔗糖酯、預糊化米澱粉、向日葵卵磷脂、磷酸鈣、米粉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、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Lemon Balm Dry Ext.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香蜂草萃取物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含香蜂草萃取物、麥芽糊精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、</a:t>
            </a:r>
            <a:r>
              <a:rPr lang="zh-TW" altLang="zh-TW" kern="100" dirty="0">
                <a:solidFill>
                  <a:srgbClr val="000000"/>
                </a:solidFill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麥芽糊精、硬脂酸鎂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。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膠囊成分：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羥丙基甲基纖維素。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容量：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每一份量</a:t>
            </a:r>
            <a:r>
              <a:rPr lang="en-US" altLang="zh-TW" kern="100" dirty="0" err="1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600mg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30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顆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/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盒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建議用量：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每日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顆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一日請勿超過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顆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  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多食無益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保存方法：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請放置於常溫且乾燥陰涼處，避免潮溼高溫及陽光直射。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保存期限：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三年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(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未開封且依保存方法保存</a:t>
            </a:r>
            <a:r>
              <a:rPr lang="en-US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)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有效日期：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詳見包裝標示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產地：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台灣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產品責任商：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慶安有福有限公司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zh-TW" altLang="zh-TW" b="1" kern="100" dirty="0" smtClean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投保</a:t>
            </a:r>
            <a:r>
              <a:rPr lang="zh-TW" altLang="zh-TW" b="1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產品責任險：</a:t>
            </a:r>
            <a:r>
              <a:rPr lang="zh-TW" altLang="zh-TW" kern="100" dirty="0">
                <a:latin typeface="Calibri" panose="020F050202020403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已投保產物產品責任險新台幣一千萬，投保金額不等同理賠金額</a:t>
            </a:r>
            <a:endParaRPr lang="zh-TW" altLang="zh-TW" kern="1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511096" y="379475"/>
            <a:ext cx="1282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華康儷粗圓(P)" panose="020F0700000000000000" pitchFamily="34" charset="-120"/>
                <a:ea typeface="華康儷粗圓(P)" panose="020F0700000000000000" pitchFamily="34" charset="-120"/>
              </a:rPr>
              <a:t>素食者</a:t>
            </a:r>
            <a:endParaRPr lang="en-US" altLang="zh-TW" sz="2400" dirty="0" smtClean="0">
              <a:latin typeface="華康儷粗圓(P)" panose="020F0700000000000000" pitchFamily="34" charset="-120"/>
              <a:ea typeface="華康儷粗圓(P)" panose="020F0700000000000000" pitchFamily="34" charset="-120"/>
            </a:endParaRPr>
          </a:p>
          <a:p>
            <a:r>
              <a:rPr lang="zh-TW" altLang="en-US" sz="2400" dirty="0">
                <a:latin typeface="華康儷粗圓(P)" panose="020F0700000000000000" pitchFamily="34" charset="-120"/>
                <a:ea typeface="華康儷粗圓(P)" panose="020F0700000000000000" pitchFamily="34" charset="-120"/>
              </a:rPr>
              <a:t>可食用</a:t>
            </a:r>
          </a:p>
        </p:txBody>
      </p:sp>
    </p:spTree>
    <p:extLst>
      <p:ext uri="{BB962C8B-B14F-4D97-AF65-F5344CB8AC3E}">
        <p14:creationId xmlns:p14="http://schemas.microsoft.com/office/powerpoint/2010/main" val="96983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753</Words>
  <Application>Microsoft Office PowerPoint</Application>
  <PresentationFormat>寬螢幕</PresentationFormat>
  <Paragraphs>133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27" baseType="lpstr">
      <vt:lpstr>Arial Unicode MS</vt:lpstr>
      <vt:lpstr>inherit</vt:lpstr>
      <vt:lpstr>맑은 고딕</vt:lpstr>
      <vt:lpstr>YACkoNusrzI_0</vt:lpstr>
      <vt:lpstr>游ゴシック</vt:lpstr>
      <vt:lpstr>華康儷粗黑(P)</vt:lpstr>
      <vt:lpstr>華康儷粗圓</vt:lpstr>
      <vt:lpstr>華康儷粗圓(P)</vt:lpstr>
      <vt:lpstr>PMingLiU</vt:lpstr>
      <vt:lpstr>PMingLiU</vt:lpstr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WinSys</dc:creator>
  <cp:lastModifiedBy>WinSys</cp:lastModifiedBy>
  <cp:revision>89</cp:revision>
  <dcterms:created xsi:type="dcterms:W3CDTF">2026-01-10T06:30:26Z</dcterms:created>
  <dcterms:modified xsi:type="dcterms:W3CDTF">2026-01-15T08:10:19Z</dcterms:modified>
</cp:coreProperties>
</file>