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60" r:id="rId6"/>
    <p:sldId id="258" r:id="rId7"/>
    <p:sldId id="263" r:id="rId8"/>
    <p:sldId id="266" r:id="rId9"/>
    <p:sldId id="264" r:id="rId10"/>
    <p:sldId id="262" r:id="rId11"/>
    <p:sldId id="269" r:id="rId12"/>
    <p:sldId id="267" r:id="rId13"/>
    <p:sldId id="268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 varScale="1">
        <p:scale>
          <a:sx n="68" d="100"/>
          <a:sy n="68" d="100"/>
        </p:scale>
        <p:origin x="5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8BFCD-9B2B-4455-B0E1-47E5E72CF162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54D7F-3694-4FDF-AB90-0EA595E5B5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4615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8BFCD-9B2B-4455-B0E1-47E5E72CF162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54D7F-3694-4FDF-AB90-0EA595E5B5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9979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8BFCD-9B2B-4455-B0E1-47E5E72CF162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54D7F-3694-4FDF-AB90-0EA595E5B5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2077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8BFCD-9B2B-4455-B0E1-47E5E72CF162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54D7F-3694-4FDF-AB90-0EA595E5B5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8422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8BFCD-9B2B-4455-B0E1-47E5E72CF162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54D7F-3694-4FDF-AB90-0EA595E5B5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2130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8BFCD-9B2B-4455-B0E1-47E5E72CF162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54D7F-3694-4FDF-AB90-0EA595E5B5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3474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8BFCD-9B2B-4455-B0E1-47E5E72CF162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54D7F-3694-4FDF-AB90-0EA595E5B5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9723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8BFCD-9B2B-4455-B0E1-47E5E72CF162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54D7F-3694-4FDF-AB90-0EA595E5B5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1972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8BFCD-9B2B-4455-B0E1-47E5E72CF162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54D7F-3694-4FDF-AB90-0EA595E5B5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3817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8BFCD-9B2B-4455-B0E1-47E5E72CF162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54D7F-3694-4FDF-AB90-0EA595E5B5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7169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8BFCD-9B2B-4455-B0E1-47E5E72CF162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54D7F-3694-4FDF-AB90-0EA595E5B5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1409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48BFCD-9B2B-4455-B0E1-47E5E72CF162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354D7F-3694-4FDF-AB90-0EA595E5B5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1744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138" y="1026563"/>
            <a:ext cx="3903482" cy="3903482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819330" y="6303690"/>
            <a:ext cx="4327098" cy="3356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600" dirty="0" smtClean="0">
                <a:latin typeface="YACkoNusrzI_0"/>
              </a:rPr>
              <a:t>致力於經</a:t>
            </a:r>
            <a:r>
              <a:rPr lang="zh-TW" altLang="en-US" sz="1600" b="0" i="0" dirty="0" smtClean="0">
                <a:effectLst/>
                <a:latin typeface="YACkoNusrzI_0"/>
              </a:rPr>
              <a:t>過科學研究提供有效的健康</a:t>
            </a:r>
            <a:r>
              <a:rPr lang="zh-TW" altLang="en-US" sz="1600" dirty="0">
                <a:latin typeface="YACkoNusrzI_0"/>
              </a:rPr>
              <a:t>輔助</a:t>
            </a:r>
            <a:r>
              <a:rPr lang="zh-TW" altLang="en-US" sz="1600" b="0" i="0" dirty="0" smtClean="0">
                <a:effectLst/>
                <a:latin typeface="YACkoNusrzI_0"/>
              </a:rPr>
              <a:t>方案</a:t>
            </a:r>
            <a:endParaRPr lang="en-US" altLang="zh-TW" sz="1600" b="0" i="0" dirty="0" smtClean="0">
              <a:effectLst/>
              <a:latin typeface="YACkoNusrzI_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5087" y="136444"/>
            <a:ext cx="1829881" cy="6502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81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7923074" y="2210024"/>
            <a:ext cx="35060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i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Please join us in pursuing health</a:t>
            </a:r>
            <a:endParaRPr lang="zh-TW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19" t="8385" r="24074" b="8866"/>
          <a:stretch/>
        </p:blipFill>
        <p:spPr>
          <a:xfrm>
            <a:off x="488269" y="0"/>
            <a:ext cx="4683336" cy="6349930"/>
          </a:xfrm>
          <a:prstGeom prst="rect">
            <a:avLst/>
          </a:prstGeom>
        </p:spPr>
      </p:pic>
      <p:pic>
        <p:nvPicPr>
          <p:cNvPr id="18" name="圖片 1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33" b="33024"/>
          <a:stretch/>
        </p:blipFill>
        <p:spPr>
          <a:xfrm>
            <a:off x="6150241" y="3417392"/>
            <a:ext cx="5172969" cy="3240484"/>
          </a:xfrm>
          <a:prstGeom prst="rect">
            <a:avLst/>
          </a:prstGeom>
        </p:spPr>
      </p:pic>
      <p:sp>
        <p:nvSpPr>
          <p:cNvPr id="4" name="文字方塊 3"/>
          <p:cNvSpPr txBox="1"/>
          <p:nvPr/>
        </p:nvSpPr>
        <p:spPr>
          <a:xfrm>
            <a:off x="5561148" y="757303"/>
            <a:ext cx="63511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0" dirty="0" smtClean="0">
                <a:solidFill>
                  <a:schemeClr val="accent6">
                    <a:lumMod val="50000"/>
                  </a:schemeClr>
                </a:solidFill>
                <a:latin typeface="華康粗黑體(P)" panose="020B0700000000000000" pitchFamily="34" charset="-120"/>
                <a:ea typeface="華康粗黑體(P)" panose="020B0700000000000000" pitchFamily="34" charset="-120"/>
              </a:rPr>
              <a:t>維他菌合生元</a:t>
            </a:r>
            <a:endParaRPr lang="zh-TW" altLang="en-US" sz="8000" dirty="0">
              <a:solidFill>
                <a:schemeClr val="accent6">
                  <a:lumMod val="50000"/>
                </a:schemeClr>
              </a:solidFill>
              <a:latin typeface="華康粗黑體(P)" panose="020B0700000000000000" pitchFamily="34" charset="-120"/>
              <a:ea typeface="華康粗黑體(P)" panose="020B0700000000000000" pitchFamily="34" charset="-120"/>
            </a:endParaRPr>
          </a:p>
        </p:txBody>
      </p:sp>
      <p:pic>
        <p:nvPicPr>
          <p:cNvPr id="46" name="圖片 4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559649" y="3459363"/>
            <a:ext cx="354152" cy="1258418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8570" y="3411228"/>
            <a:ext cx="636309" cy="636309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2357" y="2020650"/>
            <a:ext cx="1816895" cy="1466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079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235824" y="2352944"/>
            <a:ext cx="741849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800" dirty="0" smtClean="0"/>
              <a:t>不是</a:t>
            </a:r>
            <a:r>
              <a:rPr lang="zh-TW" altLang="en-US" sz="2800" dirty="0"/>
              <a:t>吃下一</a:t>
            </a:r>
            <a:r>
              <a:rPr lang="zh-TW" altLang="en-US" sz="2800" dirty="0" smtClean="0"/>
              <a:t>堆</a:t>
            </a:r>
            <a:r>
              <a:rPr lang="zh-TW" altLang="en-US" sz="2800" dirty="0"/>
              <a:t>菌</a:t>
            </a:r>
            <a:r>
              <a:rPr lang="zh-TW" altLang="en-US" sz="2800" dirty="0" smtClean="0"/>
              <a:t>，</a:t>
            </a:r>
            <a:r>
              <a:rPr lang="zh-TW" altLang="en-US" sz="2800" dirty="0"/>
              <a:t>而</a:t>
            </a:r>
            <a:r>
              <a:rPr lang="zh-TW" altLang="en-US" sz="2800" dirty="0" smtClean="0"/>
              <a:t>是要會</a:t>
            </a:r>
            <a:r>
              <a:rPr lang="zh-TW" altLang="en-US" sz="2800" dirty="0" smtClean="0">
                <a:solidFill>
                  <a:srgbClr val="FF0000"/>
                </a:solidFill>
              </a:rPr>
              <a:t>選</a:t>
            </a:r>
            <a:r>
              <a:rPr lang="zh-TW" altLang="en-US" sz="2800" dirty="0"/>
              <a:t>菌</a:t>
            </a:r>
          </a:p>
        </p:txBody>
      </p:sp>
      <p:sp>
        <p:nvSpPr>
          <p:cNvPr id="4" name="矩形 3"/>
          <p:cNvSpPr/>
          <p:nvPr/>
        </p:nvSpPr>
        <p:spPr>
          <a:xfrm>
            <a:off x="2235824" y="2886936"/>
            <a:ext cx="850130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800" dirty="0" smtClean="0"/>
              <a:t>真正對你影響的不是</a:t>
            </a:r>
            <a:r>
              <a:rPr lang="zh-TW" altLang="en-US" sz="2800" dirty="0"/>
              <a:t>數量，而是 </a:t>
            </a:r>
            <a:r>
              <a:rPr lang="zh-TW" altLang="en-US" sz="2800" b="1" dirty="0">
                <a:solidFill>
                  <a:srgbClr val="FF0000"/>
                </a:solidFill>
              </a:rPr>
              <a:t>菌株是否有目的性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2235824" y="3410156"/>
            <a:ext cx="76057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 err="1" smtClean="0"/>
              <a:t>UFLOW</a:t>
            </a:r>
            <a:r>
              <a:rPr lang="zh-TW" altLang="en-US" sz="2800" dirty="0" smtClean="0"/>
              <a:t>嚴格挑選 </a:t>
            </a:r>
            <a:r>
              <a:rPr lang="en-US" altLang="zh-TW" sz="2800" b="1" dirty="0">
                <a:solidFill>
                  <a:srgbClr val="FF0000"/>
                </a:solidFill>
              </a:rPr>
              <a:t>4 </a:t>
            </a:r>
            <a:r>
              <a:rPr lang="zh-TW" altLang="en-US" sz="2800" b="1" dirty="0">
                <a:solidFill>
                  <a:srgbClr val="FF0000"/>
                </a:solidFill>
              </a:rPr>
              <a:t>株有功能分工的原廠菌株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6756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7504" y="2424924"/>
            <a:ext cx="990579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TW" sz="2000" i="1" dirty="0">
                <a:solidFill>
                  <a:srgbClr val="4472C4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Lactobacillus </a:t>
            </a:r>
            <a:r>
              <a:rPr lang="en-US" altLang="zh-TW" sz="2000" i="1" dirty="0" err="1">
                <a:solidFill>
                  <a:srgbClr val="4472C4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plantarum</a:t>
            </a:r>
            <a:r>
              <a:rPr lang="en-US" altLang="zh-TW" sz="2000" dirty="0">
                <a:latin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 err="1" smtClean="0">
                <a:latin typeface="標楷體" panose="03000509000000000000" pitchFamily="65" charset="-120"/>
                <a:cs typeface="Times New Roman" panose="02020603050405020304" pitchFamily="18" charset="0"/>
              </a:rPr>
              <a:t>LPL28</a:t>
            </a:r>
            <a:r>
              <a:rPr lang="en-US" altLang="zh-TW" sz="2000" dirty="0" smtClean="0"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en-US" sz="2000" dirty="0" smtClean="0"/>
              <a:t>調整蠕動</a:t>
            </a:r>
            <a:r>
              <a:rPr lang="zh-TW" altLang="en-US" sz="2000" dirty="0"/>
              <a:t>節奏</a:t>
            </a:r>
            <a:r>
              <a:rPr lang="zh-TW" altLang="en-US" sz="2000" dirty="0" smtClean="0"/>
              <a:t>，調節氣</a:t>
            </a:r>
            <a:r>
              <a:rPr lang="zh-TW" altLang="zh-TW" sz="2000" dirty="0" smtClean="0">
                <a:latin typeface="Arial" panose="020B0604020202020204" pitchFamily="34" charset="0"/>
              </a:rPr>
              <a:t>脹</a:t>
            </a:r>
            <a:r>
              <a:rPr lang="zh-TW" altLang="en-US" sz="2000" dirty="0" smtClean="0">
                <a:latin typeface="Arial" panose="020B0604020202020204" pitchFamily="34" charset="0"/>
              </a:rPr>
              <a:t>感</a:t>
            </a:r>
            <a:endParaRPr lang="zh-TW" altLang="zh-TW" sz="2000" dirty="0">
              <a:latin typeface="Arial" panose="020B0604020202020204" pitchFamily="34" charset="0"/>
            </a:endParaRPr>
          </a:p>
          <a:p>
            <a:endParaRPr lang="en-US" altLang="zh-TW" sz="2000" dirty="0" smtClean="0"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0"/>
            <a:r>
              <a:rPr lang="zh-TW" altLang="zh-TW" sz="2000" dirty="0" smtClean="0"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i="1" dirty="0">
                <a:solidFill>
                  <a:srgbClr val="4472C4"/>
                </a:solidFill>
                <a:ea typeface="標楷體" panose="03000509000000000000" pitchFamily="65" charset="-120"/>
                <a:cs typeface="Times New Roman" panose="02020603050405020304" pitchFamily="18" charset="0"/>
              </a:rPr>
              <a:t>Lactobacillus </a:t>
            </a:r>
            <a:r>
              <a:rPr lang="en-US" altLang="zh-TW" sz="2000" i="1" dirty="0" err="1">
                <a:solidFill>
                  <a:srgbClr val="4472C4"/>
                </a:solidFill>
                <a:ea typeface="標楷體" panose="03000509000000000000" pitchFamily="65" charset="-120"/>
                <a:cs typeface="Times New Roman" panose="02020603050405020304" pitchFamily="18" charset="0"/>
              </a:rPr>
              <a:t>salivarius</a:t>
            </a:r>
            <a:r>
              <a:rPr lang="en-US" altLang="zh-TW" sz="2000" dirty="0"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 smtClean="0">
                <a:ea typeface="標楷體" panose="03000509000000000000" pitchFamily="65" charset="-120"/>
                <a:cs typeface="Times New Roman" panose="02020603050405020304" pitchFamily="18" charset="0"/>
              </a:rPr>
              <a:t>AP-32：</a:t>
            </a:r>
            <a:r>
              <a:rPr lang="zh-TW" altLang="en-US" sz="2000" dirty="0"/>
              <a:t>協助抑制不良菌生長，</a:t>
            </a:r>
            <a:r>
              <a:rPr lang="zh-TW" altLang="en-US" sz="2000" dirty="0" smtClean="0"/>
              <a:t>支持消化道的</a:t>
            </a:r>
            <a:r>
              <a:rPr lang="zh-TW" altLang="en-US" sz="2000" dirty="0"/>
              <a:t>菌相平衡</a:t>
            </a:r>
            <a:endParaRPr lang="zh-TW" altLang="zh-TW" sz="2000" dirty="0">
              <a:latin typeface="Arial" panose="020B0604020202020204" pitchFamily="34" charset="0"/>
            </a:endParaRPr>
          </a:p>
          <a:p>
            <a:endParaRPr lang="en-US" altLang="zh-TW" sz="2000" dirty="0"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0"/>
            <a:r>
              <a:rPr lang="en-US" altLang="zh-TW" sz="2000" i="1" dirty="0" smtClean="0">
                <a:solidFill>
                  <a:srgbClr val="4472C4"/>
                </a:solidFill>
                <a:ea typeface="標楷體" panose="03000509000000000000" pitchFamily="65" charset="-120"/>
                <a:cs typeface="Times New Roman" panose="02020603050405020304" pitchFamily="18" charset="0"/>
              </a:rPr>
              <a:t>Lactobacillus </a:t>
            </a:r>
            <a:r>
              <a:rPr lang="en-US" altLang="zh-TW" sz="2000" i="1" dirty="0" err="1">
                <a:solidFill>
                  <a:srgbClr val="4472C4"/>
                </a:solidFill>
                <a:ea typeface="標楷體" panose="03000509000000000000" pitchFamily="65" charset="-120"/>
                <a:cs typeface="Times New Roman" panose="02020603050405020304" pitchFamily="18" charset="0"/>
              </a:rPr>
              <a:t>rhamnosus</a:t>
            </a:r>
            <a:r>
              <a:rPr lang="en-US" altLang="zh-TW" sz="2000" dirty="0">
                <a:solidFill>
                  <a:srgbClr val="FF0000"/>
                </a:solidFill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 smtClean="0">
                <a:ea typeface="標楷體" panose="03000509000000000000" pitchFamily="65" charset="-120"/>
                <a:cs typeface="Times New Roman" panose="02020603050405020304" pitchFamily="18" charset="0"/>
              </a:rPr>
              <a:t>F-1：</a:t>
            </a:r>
            <a:r>
              <a:rPr lang="zh-TW" altLang="en-US" sz="2000" dirty="0" smtClean="0"/>
              <a:t>協助消化道防護</a:t>
            </a:r>
            <a:r>
              <a:rPr lang="zh-TW" altLang="en-US" sz="2000" dirty="0"/>
              <a:t>機制</a:t>
            </a:r>
            <a:r>
              <a:rPr lang="zh-TW" altLang="en-US" sz="2000" dirty="0" smtClean="0"/>
              <a:t>與平衡</a:t>
            </a:r>
            <a:endParaRPr lang="zh-TW" altLang="zh-TW" sz="2000" dirty="0">
              <a:latin typeface="Arial" panose="020B0604020202020204" pitchFamily="34" charset="0"/>
            </a:endParaRPr>
          </a:p>
          <a:p>
            <a:endParaRPr lang="en-US" altLang="zh-TW" sz="2000" dirty="0"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000" i="1" dirty="0" err="1" smtClean="0">
                <a:solidFill>
                  <a:srgbClr val="0070C0"/>
                </a:solidFill>
                <a:cs typeface="Times New Roman" panose="02020603050405020304" pitchFamily="18" charset="0"/>
              </a:rPr>
              <a:t>Bifidobacterium</a:t>
            </a:r>
            <a:r>
              <a:rPr lang="en-US" altLang="zh-TW" sz="2000" i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en-US" altLang="zh-TW" sz="2000" i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animalis</a:t>
            </a:r>
            <a:r>
              <a:rPr lang="en-US" altLang="zh-TW" sz="2000" i="1" dirty="0">
                <a:solidFill>
                  <a:srgbClr val="0070C0"/>
                </a:solidFill>
                <a:cs typeface="Times New Roman" panose="02020603050405020304" pitchFamily="18" charset="0"/>
              </a:rPr>
              <a:t> subsp. </a:t>
            </a:r>
            <a:r>
              <a:rPr lang="en-US" altLang="zh-TW" sz="2000" i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Lactis</a:t>
            </a:r>
            <a:r>
              <a:rPr lang="en-US" altLang="zh-TW" sz="2000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en-US" altLang="zh-TW" sz="2000" dirty="0" smtClean="0">
                <a:cs typeface="Times New Roman" panose="02020603050405020304" pitchFamily="18" charset="0"/>
              </a:rPr>
              <a:t>CP-9</a:t>
            </a:r>
            <a:r>
              <a:rPr lang="en-US" altLang="zh-TW" sz="2000" dirty="0" smtClean="0"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en-US" sz="2000" dirty="0" smtClean="0"/>
              <a:t>支持菌種經過消化道的耐</a:t>
            </a:r>
            <a:r>
              <a:rPr lang="zh-TW" altLang="en-US" sz="2000" dirty="0"/>
              <a:t>受性與菌相穩定</a:t>
            </a:r>
            <a:endParaRPr lang="en-US" altLang="zh-TW" sz="2000" dirty="0"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54733" y="949936"/>
            <a:ext cx="71096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>
                <a:solidFill>
                  <a:srgbClr val="666464"/>
                </a:solidFill>
                <a:latin typeface="華康儷粗圓" panose="020F0709000000000000" pitchFamily="49" charset="-120"/>
                <a:ea typeface="華康儷粗圓" panose="020F0709000000000000" pitchFamily="49" charset="-120"/>
              </a:rPr>
              <a:t>【</a:t>
            </a:r>
            <a:r>
              <a:rPr lang="zh-TW" altLang="en-US" sz="3600" dirty="0">
                <a:solidFill>
                  <a:srgbClr val="666464"/>
                </a:solidFill>
                <a:latin typeface="華康儷粗圓" panose="020F0709000000000000" pitchFamily="49" charset="-120"/>
                <a:ea typeface="華康儷粗圓" panose="020F0709000000000000" pitchFamily="49" charset="-120"/>
              </a:rPr>
              <a:t>菌株</a:t>
            </a:r>
            <a:r>
              <a:rPr lang="en-US" altLang="zh-TW" sz="3600" dirty="0">
                <a:solidFill>
                  <a:srgbClr val="666464"/>
                </a:solidFill>
                <a:latin typeface="華康儷粗圓" panose="020F0709000000000000" pitchFamily="49" charset="-120"/>
                <a:ea typeface="華康儷粗圓" panose="020F0709000000000000" pitchFamily="49" charset="-120"/>
              </a:rPr>
              <a:t>】</a:t>
            </a:r>
            <a:r>
              <a:rPr lang="zh-TW" altLang="en-US" sz="3600" dirty="0">
                <a:solidFill>
                  <a:srgbClr val="666464"/>
                </a:solidFill>
                <a:latin typeface="華康儷粗圓" panose="020F0709000000000000" pitchFamily="49" charset="-120"/>
                <a:ea typeface="華康儷粗圓" panose="020F0709000000000000" pitchFamily="49" charset="-120"/>
              </a:rPr>
              <a:t>才是真正幫助保養的關鍵</a:t>
            </a:r>
            <a:endParaRPr lang="zh-TW" altLang="en-US" sz="3600" dirty="0">
              <a:latin typeface="華康儷粗圓" panose="020F0709000000000000" pitchFamily="49" charset="-120"/>
              <a:ea typeface="華康儷粗圓" panose="020F0709000000000000" pitchFamily="49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/>
          <a:srcRect t="3903" b="-1"/>
          <a:stretch/>
        </p:blipFill>
        <p:spPr>
          <a:xfrm>
            <a:off x="8824493" y="200911"/>
            <a:ext cx="2987293" cy="214438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8139" y="2494457"/>
            <a:ext cx="1493647" cy="2107702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9652" y="4446018"/>
            <a:ext cx="2987292" cy="241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422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56181" y="409770"/>
            <a:ext cx="1070885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800" dirty="0"/>
              <a:t>單補益生菌，很多人吃了「沒感覺」</a:t>
            </a:r>
            <a:r>
              <a:rPr lang="zh-TW" altLang="en-US" sz="2800" dirty="0" smtClean="0"/>
              <a:t>，</a:t>
            </a:r>
            <a:endParaRPr lang="en-US" altLang="zh-TW" sz="2800" dirty="0" smtClean="0"/>
          </a:p>
          <a:p>
            <a:r>
              <a:rPr lang="zh-TW" altLang="en-US" sz="2800" dirty="0"/>
              <a:t/>
            </a:r>
            <a:br>
              <a:rPr lang="zh-TW" altLang="en-US" sz="2800" dirty="0"/>
            </a:br>
            <a:r>
              <a:rPr lang="zh-TW" altLang="en-US" sz="3200" dirty="0"/>
              <a:t>原因</a:t>
            </a:r>
            <a:r>
              <a:rPr lang="zh-TW" altLang="en-US" sz="3200" dirty="0" smtClean="0"/>
              <a:t>不是</a:t>
            </a:r>
            <a:r>
              <a:rPr lang="zh-TW" altLang="en-US" sz="3200" dirty="0"/>
              <a:t>菌不好，而是 </a:t>
            </a:r>
            <a:r>
              <a:rPr lang="zh-TW" altLang="en-US" sz="4000" b="1" dirty="0" smtClean="0">
                <a:solidFill>
                  <a:srgbClr val="FF0000"/>
                </a:solidFill>
              </a:rPr>
              <a:t>消化道</a:t>
            </a:r>
            <a:r>
              <a:rPr lang="zh-TW" altLang="en-US" sz="4000" b="1" dirty="0">
                <a:solidFill>
                  <a:srgbClr val="FF0000"/>
                </a:solidFill>
              </a:rPr>
              <a:t>環境不適合它留下來</a:t>
            </a:r>
            <a:endParaRPr lang="zh-TW" altLang="en-US" sz="4000" dirty="0">
              <a:solidFill>
                <a:srgbClr val="FF0000"/>
              </a:solidFill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932" y="5967167"/>
            <a:ext cx="8118908" cy="674016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0750" y="2380697"/>
            <a:ext cx="6380467" cy="3402019"/>
          </a:xfrm>
          <a:prstGeom prst="rect">
            <a:avLst/>
          </a:prstGeom>
        </p:spPr>
      </p:pic>
      <p:sp>
        <p:nvSpPr>
          <p:cNvPr id="2" name="文字方塊 1"/>
          <p:cNvSpPr txBox="1"/>
          <p:nvPr/>
        </p:nvSpPr>
        <p:spPr>
          <a:xfrm>
            <a:off x="7833674" y="2469823"/>
            <a:ext cx="952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/>
              <a:t>4</a:t>
            </a:r>
            <a:r>
              <a:rPr lang="zh-TW" altLang="en-US" b="1" dirty="0" smtClean="0"/>
              <a:t>益菌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1288919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圖片 1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24"/>
          <a:stretch/>
        </p:blipFill>
        <p:spPr>
          <a:xfrm>
            <a:off x="6383655" y="3785494"/>
            <a:ext cx="5352716" cy="2721904"/>
          </a:xfrm>
          <a:prstGeom prst="rect">
            <a:avLst/>
          </a:prstGeom>
        </p:spPr>
      </p:pic>
      <p:pic>
        <p:nvPicPr>
          <p:cNvPr id="20" name="圖片 19"/>
          <p:cNvPicPr>
            <a:picLocks noChangeAspect="1"/>
          </p:cNvPicPr>
          <p:nvPr/>
        </p:nvPicPr>
        <p:blipFill rotWithShape="1">
          <a:blip r:embed="rId3"/>
          <a:srcRect t="18924"/>
          <a:stretch/>
        </p:blipFill>
        <p:spPr>
          <a:xfrm>
            <a:off x="7666548" y="1206632"/>
            <a:ext cx="3780045" cy="1943187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502762" y="320290"/>
            <a:ext cx="1140643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4000" b="1" u="sng" kern="100" dirty="0">
                <a:solidFill>
                  <a:srgbClr val="0A0A0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合生元</a:t>
            </a:r>
            <a:r>
              <a:rPr lang="en-US" altLang="zh-TW" sz="4000" kern="100" dirty="0">
                <a:solidFill>
                  <a:srgbClr val="0A0A0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Times New Roman" panose="02020603050405020304" pitchFamily="18" charset="0"/>
              </a:rPr>
              <a:t> (</a:t>
            </a:r>
            <a:r>
              <a:rPr lang="en-US" altLang="zh-TW" sz="4000" kern="100" dirty="0" err="1">
                <a:solidFill>
                  <a:srgbClr val="0A0A0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Times New Roman" panose="02020603050405020304" pitchFamily="18" charset="0"/>
              </a:rPr>
              <a:t>Synbiotics</a:t>
            </a:r>
            <a:r>
              <a:rPr lang="en-US" altLang="zh-TW" sz="4000" kern="100" dirty="0">
                <a:solidFill>
                  <a:srgbClr val="0A0A0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Times New Roman" panose="02020603050405020304" pitchFamily="18" charset="0"/>
              </a:rPr>
              <a:t>) </a:t>
            </a:r>
            <a:r>
              <a:rPr lang="zh-TW" altLang="en-US" sz="3200" kern="100" dirty="0" smtClean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是</a:t>
            </a:r>
            <a:r>
              <a:rPr lang="zh-TW" altLang="zh-TW" sz="3200" b="1" kern="1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益</a:t>
            </a:r>
            <a:r>
              <a:rPr lang="zh-TW" altLang="zh-TW" sz="3200" b="1" kern="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生菌</a:t>
            </a:r>
            <a:r>
              <a:rPr lang="zh-TW" altLang="zh-TW" sz="3200" b="1" kern="100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與</a:t>
            </a:r>
            <a:r>
              <a:rPr lang="zh-TW" altLang="zh-TW" sz="3200" b="1" kern="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益生</a:t>
            </a:r>
            <a:r>
              <a:rPr lang="zh-TW" altLang="zh-TW" sz="3200" b="1" kern="1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元</a:t>
            </a:r>
            <a:r>
              <a:rPr lang="zh-TW" altLang="en-US" sz="3200" b="1" kern="100" dirty="0" smtClean="0">
                <a:solidFill>
                  <a:srgbClr val="FF0000"/>
                </a:solidFill>
                <a:latin typeface="PMingLiU" panose="02020500000000000000" pitchFamily="18" charset="-120"/>
                <a:ea typeface="PMingLiU" panose="02020500000000000000" pitchFamily="18" charset="-120"/>
                <a:cs typeface="Arial" panose="020B0604020202020204" pitchFamily="34" charset="0"/>
              </a:rPr>
              <a:t>、後生元</a:t>
            </a:r>
            <a:r>
              <a:rPr lang="zh-TW" altLang="zh-TW" sz="3200" kern="100" dirty="0" smtClean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結合，</a:t>
            </a:r>
            <a:endParaRPr lang="en-US" altLang="zh-TW" sz="3200" kern="100" dirty="0" smtClean="0">
              <a:solidFill>
                <a:srgbClr val="0A0A0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endParaRPr lang="en-US" altLang="zh-TW" sz="3200" kern="100" dirty="0" smtClean="0">
              <a:solidFill>
                <a:srgbClr val="0A0A0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zh-TW" altLang="en-US" sz="3200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並</a:t>
            </a:r>
            <a:r>
              <a:rPr lang="zh-TW" altLang="zh-TW" sz="3200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添加</a:t>
            </a:r>
            <a:r>
              <a:rPr lang="zh-TW" altLang="zh-TW" sz="3200" kern="100" dirty="0" smtClean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提升</a:t>
            </a:r>
            <a:r>
              <a:rPr lang="zh-TW" altLang="zh-TW" sz="3200" kern="100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益生菌</a:t>
            </a:r>
            <a:r>
              <a:rPr lang="zh-TW" altLang="zh-TW" sz="3200" kern="100" dirty="0" smtClean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存活</a:t>
            </a:r>
            <a:r>
              <a:rPr lang="zh-TW" altLang="zh-TW" sz="3200" kern="100" dirty="0" smtClean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專</a:t>
            </a:r>
            <a:r>
              <a:rPr lang="zh-TW" altLang="zh-TW" sz="3200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利</a:t>
            </a:r>
            <a:r>
              <a:rPr lang="zh-TW" altLang="zh-TW" sz="3200" b="1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益萃質</a:t>
            </a:r>
            <a:r>
              <a:rPr lang="en-US" altLang="zh-TW" sz="3200" b="1" kern="100" dirty="0" smtClean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®</a:t>
            </a:r>
          </a:p>
          <a:p>
            <a:pPr>
              <a:spcAft>
                <a:spcPts val="0"/>
              </a:spcAft>
            </a:pPr>
            <a:endParaRPr lang="en-US" altLang="zh-TW" sz="3200" b="1" kern="100" dirty="0">
              <a:solidFill>
                <a:srgbClr val="FF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zh-TW" altLang="en-US" sz="3200" b="1" kern="100" dirty="0" smtClean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維持</a:t>
            </a:r>
            <a:r>
              <a:rPr lang="zh-TW" altLang="zh-TW" sz="3200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細菌叢</a:t>
            </a:r>
            <a:r>
              <a:rPr lang="zh-TW" altLang="en-US" sz="3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停留</a:t>
            </a:r>
            <a:r>
              <a:rPr lang="zh-TW" altLang="en-US" sz="3200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體內的</a:t>
            </a:r>
            <a:r>
              <a:rPr lang="zh-TW" altLang="en-US" sz="3200" kern="100" dirty="0" smtClean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續航力</a:t>
            </a:r>
            <a:endParaRPr lang="zh-TW" altLang="zh-TW" sz="3200" kern="100" dirty="0">
              <a:solidFill>
                <a:srgbClr val="FF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8" name="圖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4994" y="4290187"/>
            <a:ext cx="3548602" cy="1712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144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552" y="1574276"/>
            <a:ext cx="4849752" cy="4456686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16" y="1706252"/>
            <a:ext cx="7202583" cy="4715548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648" y="0"/>
            <a:ext cx="4993850" cy="1172356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8240298" y="5661630"/>
            <a:ext cx="2780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益萃質可以增加好菌比例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7547428" y="1687399"/>
            <a:ext cx="870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/>
              <a:t>KK</a:t>
            </a:r>
            <a:r>
              <a:rPr lang="zh-TW" altLang="en-US" dirty="0" smtClean="0"/>
              <a:t>菌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9046289" y="1574276"/>
            <a:ext cx="1168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乳酸桿菌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54587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680" y="975428"/>
            <a:ext cx="8696595" cy="579773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794680" y="21321"/>
            <a:ext cx="895111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 err="1">
                <a:solidFill>
                  <a:schemeClr val="accent6">
                    <a:lumMod val="50000"/>
                  </a:schemeClr>
                </a:solidFill>
                <a:latin typeface="華康儷粗黑(P)" panose="020B0700000000000000" pitchFamily="34" charset="-120"/>
                <a:ea typeface="華康儷粗黑(P)" panose="020B0700000000000000" pitchFamily="34" charset="-120"/>
              </a:rPr>
              <a:t>UFLOW</a:t>
            </a:r>
            <a:r>
              <a:rPr lang="en-US" altLang="zh-TW" sz="2800" dirty="0">
                <a:solidFill>
                  <a:schemeClr val="accent6">
                    <a:lumMod val="50000"/>
                  </a:schemeClr>
                </a:solidFill>
                <a:latin typeface="華康儷粗黑(P)" panose="020B0700000000000000" pitchFamily="34" charset="-120"/>
                <a:ea typeface="華康儷粗黑(P)" panose="020B0700000000000000" pitchFamily="34" charset="-120"/>
              </a:rPr>
              <a:t> </a:t>
            </a:r>
            <a:r>
              <a:rPr lang="zh-TW" altLang="en-US" sz="2800" dirty="0">
                <a:solidFill>
                  <a:schemeClr val="accent6">
                    <a:lumMod val="50000"/>
                  </a:schemeClr>
                </a:solidFill>
                <a:latin typeface="華康儷粗黑(P)" panose="020B0700000000000000" pitchFamily="34" charset="-120"/>
                <a:ea typeface="華康儷粗黑(P)" panose="020B0700000000000000" pitchFamily="34" charset="-120"/>
              </a:rPr>
              <a:t>維他菌合生</a:t>
            </a:r>
            <a:r>
              <a:rPr lang="zh-TW" altLang="en-US" sz="2800" dirty="0" smtClean="0">
                <a:solidFill>
                  <a:schemeClr val="accent6">
                    <a:lumMod val="50000"/>
                  </a:schemeClr>
                </a:solidFill>
                <a:latin typeface="華康儷粗黑(P)" panose="020B0700000000000000" pitchFamily="34" charset="-120"/>
                <a:ea typeface="華康儷粗黑(P)" panose="020B0700000000000000" pitchFamily="34" charset="-120"/>
              </a:rPr>
              <a:t>元     </a:t>
            </a:r>
            <a:r>
              <a:rPr lang="zh-TW" altLang="en-US" sz="2800" dirty="0" smtClean="0">
                <a:latin typeface="華康儷粗圓" panose="020F0709000000000000" pitchFamily="49" charset="-120"/>
                <a:ea typeface="華康儷粗圓" panose="020F0709000000000000" pitchFamily="49" charset="-120"/>
              </a:rPr>
              <a:t>於</a:t>
            </a:r>
            <a:r>
              <a:rPr lang="zh-TW" altLang="en-US" sz="2800" dirty="0">
                <a:latin typeface="華康儷粗圓" panose="020F0709000000000000" pitchFamily="49" charset="-120"/>
                <a:ea typeface="華康儷粗圓" panose="020F0709000000000000" pitchFamily="49" charset="-120"/>
              </a:rPr>
              <a:t>益生菌配方中</a:t>
            </a:r>
            <a:r>
              <a:rPr lang="zh-TW" altLang="en-US" sz="2800" dirty="0" smtClean="0">
                <a:latin typeface="華康儷粗圓" panose="020F0709000000000000" pitchFamily="49" charset="-120"/>
                <a:ea typeface="華康儷粗圓" panose="020F0709000000000000" pitchFamily="49" charset="-120"/>
              </a:rPr>
              <a:t>搭配漢方</a:t>
            </a:r>
            <a:r>
              <a:rPr lang="zh-TW" altLang="en-US" sz="2800" dirty="0">
                <a:latin typeface="華康儷粗圓" panose="020F0709000000000000" pitchFamily="49" charset="-120"/>
                <a:ea typeface="華康儷粗圓" panose="020F0709000000000000" pitchFamily="49" charset="-120"/>
              </a:rPr>
              <a:t>提供</a:t>
            </a:r>
            <a:endParaRPr lang="en-US" altLang="zh-TW" sz="2800" dirty="0" smtClean="0">
              <a:latin typeface="華康儷粗圓" panose="020F0709000000000000" pitchFamily="49" charset="-120"/>
              <a:ea typeface="華康儷粗圓" panose="020F0709000000000000" pitchFamily="49" charset="-120"/>
            </a:endParaRPr>
          </a:p>
          <a:p>
            <a:r>
              <a:rPr lang="zh-TW" altLang="en-US" sz="2800" dirty="0" smtClean="0">
                <a:latin typeface="華康儷粗圓" panose="020F0709000000000000" pitchFamily="49" charset="-120"/>
                <a:ea typeface="華康儷粗圓" panose="020F0709000000000000" pitchFamily="49" charset="-120"/>
              </a:rPr>
              <a:t>更</a:t>
            </a:r>
            <a:r>
              <a:rPr lang="zh-TW" altLang="en-US" sz="2800" dirty="0">
                <a:latin typeface="華康儷粗圓" panose="020F0709000000000000" pitchFamily="49" charset="-120"/>
                <a:ea typeface="華康儷粗圓" panose="020F0709000000000000" pitchFamily="49" charset="-120"/>
              </a:rPr>
              <a:t>完整的營養補充設計</a:t>
            </a:r>
            <a:r>
              <a:rPr lang="zh-TW" altLang="en-US" sz="2800" dirty="0" smtClean="0">
                <a:latin typeface="華康儷粗圓" panose="020F0709000000000000" pitchFamily="49" charset="-120"/>
                <a:ea typeface="華康儷粗圓" panose="020F0709000000000000" pitchFamily="49" charset="-120"/>
              </a:rPr>
              <a:t>，</a:t>
            </a:r>
            <a:r>
              <a:rPr lang="zh-TW" altLang="en-US" sz="2800" dirty="0">
                <a:latin typeface="華康儷粗圓" panose="020F0709000000000000" pitchFamily="49" charset="-120"/>
                <a:ea typeface="華康儷粗圓" panose="020F0709000000000000" pitchFamily="49" charset="-120"/>
              </a:rPr>
              <a:t>作為</a:t>
            </a:r>
            <a:r>
              <a:rPr lang="zh-TW" altLang="en-US" sz="2800" dirty="0" smtClean="0">
                <a:latin typeface="華康儷粗圓" panose="020F0709000000000000" pitchFamily="49" charset="-120"/>
                <a:ea typeface="華康儷粗圓" panose="020F0709000000000000" pitchFamily="49" charset="-120"/>
              </a:rPr>
              <a:t>日常</a:t>
            </a:r>
            <a:r>
              <a:rPr lang="zh-TW" altLang="en-US" sz="2800" dirty="0">
                <a:latin typeface="華康儷粗圓" panose="020F0709000000000000" pitchFamily="49" charset="-120"/>
                <a:ea typeface="華康儷粗圓" panose="020F0709000000000000" pitchFamily="49" charset="-120"/>
              </a:rPr>
              <a:t>規律</a:t>
            </a:r>
            <a:r>
              <a:rPr lang="zh-TW" altLang="en-US" sz="2800" dirty="0" smtClean="0">
                <a:latin typeface="華康儷粗圓" panose="020F0709000000000000" pitchFamily="49" charset="-120"/>
                <a:ea typeface="華康儷粗圓" panose="020F0709000000000000" pitchFamily="49" charset="-120"/>
              </a:rPr>
              <a:t>調理</a:t>
            </a:r>
            <a:r>
              <a:rPr lang="zh-TW" altLang="en-US" sz="2800" dirty="0">
                <a:latin typeface="華康儷粗圓" panose="020F0709000000000000" pitchFamily="49" charset="-120"/>
                <a:ea typeface="華康儷粗圓" panose="020F0709000000000000" pitchFamily="49" charset="-120"/>
              </a:rPr>
              <a:t>的輔助</a:t>
            </a:r>
            <a:r>
              <a:rPr lang="zh-TW" altLang="en-US" sz="2800" dirty="0" smtClean="0">
                <a:latin typeface="華康儷粗圓" panose="020F0709000000000000" pitchFamily="49" charset="-120"/>
                <a:ea typeface="華康儷粗圓" panose="020F0709000000000000" pitchFamily="49" charset="-120"/>
              </a:rPr>
              <a:t>元素。</a:t>
            </a:r>
            <a:endParaRPr lang="zh-TW" altLang="en-US" sz="2800" dirty="0">
              <a:latin typeface="華康儷粗圓" panose="020F0709000000000000" pitchFamily="49" charset="-120"/>
              <a:ea typeface="華康儷粗圓" panose="020F0709000000000000" pitchFamily="49" charset="-120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603316" y="377073"/>
            <a:ext cx="1536569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9600" dirty="0" smtClean="0">
                <a:latin typeface="華康儷粗黑(P)" panose="020B0700000000000000" pitchFamily="34" charset="-120"/>
                <a:ea typeface="華康儷粗黑(P)" panose="020B0700000000000000" pitchFamily="34" charset="-120"/>
              </a:rPr>
              <a:t>漢方調理</a:t>
            </a:r>
            <a:endParaRPr lang="zh-TW" altLang="en-US" sz="9600" dirty="0">
              <a:latin typeface="華康儷粗黑(P)" panose="020B0700000000000000" pitchFamily="34" charset="-120"/>
              <a:ea typeface="華康儷粗黑(P)" panose="020B07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667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2" y="1395059"/>
            <a:ext cx="5529178" cy="4355292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8632" y="3442536"/>
            <a:ext cx="5936593" cy="3179737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8632" y="183649"/>
            <a:ext cx="5936593" cy="321805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97962" y="258395"/>
            <a:ext cx="5307292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採用</a:t>
            </a:r>
            <a:r>
              <a:rPr lang="zh-TW" altLang="en-US" sz="3200" dirty="0"/>
              <a:t>專利三層包埋凍晶技術</a:t>
            </a:r>
            <a:r>
              <a:rPr lang="zh-TW" altLang="en-US" dirty="0" smtClean="0"/>
              <a:t>，</a:t>
            </a:r>
            <a:endParaRPr lang="en-US" altLang="zh-TW" dirty="0" smtClean="0"/>
          </a:p>
          <a:p>
            <a:r>
              <a:rPr lang="zh-TW" altLang="en-US" dirty="0" smtClean="0"/>
              <a:t>提升</a:t>
            </a:r>
            <a:r>
              <a:rPr lang="zh-TW" altLang="en-US" dirty="0"/>
              <a:t>益生菌在儲存</a:t>
            </a:r>
            <a:r>
              <a:rPr lang="zh-TW" altLang="en-US" dirty="0" smtClean="0"/>
              <a:t>與消化道環</a:t>
            </a:r>
            <a:r>
              <a:rPr lang="zh-TW" altLang="en-US" dirty="0"/>
              <a:t>境中的穩定與存活率。</a:t>
            </a:r>
          </a:p>
        </p:txBody>
      </p:sp>
      <p:sp>
        <p:nvSpPr>
          <p:cNvPr id="6" name="矩形 5"/>
          <p:cNvSpPr/>
          <p:nvPr/>
        </p:nvSpPr>
        <p:spPr>
          <a:xfrm>
            <a:off x="408005" y="6025241"/>
            <a:ext cx="54168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dirty="0"/>
              <a:t>讓益生菌更穩定、更容易</a:t>
            </a:r>
            <a:r>
              <a:rPr lang="zh-TW" altLang="en-US" sz="2400" dirty="0" smtClean="0"/>
              <a:t>抵達消化道</a:t>
            </a:r>
            <a:r>
              <a:rPr lang="zh-TW" altLang="en-US" sz="24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750132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24" y="1313386"/>
            <a:ext cx="11604398" cy="5338685"/>
          </a:xfrm>
          <a:prstGeom prst="rect">
            <a:avLst/>
          </a:prstGeom>
        </p:spPr>
      </p:pic>
      <p:sp>
        <p:nvSpPr>
          <p:cNvPr id="2" name="文字方塊 1"/>
          <p:cNvSpPr txBox="1"/>
          <p:nvPr/>
        </p:nvSpPr>
        <p:spPr>
          <a:xfrm>
            <a:off x="2392624" y="254524"/>
            <a:ext cx="76357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0" dirty="0" err="1" smtClean="0">
                <a:solidFill>
                  <a:schemeClr val="accent6">
                    <a:lumMod val="50000"/>
                  </a:schemeClr>
                </a:solidFill>
                <a:latin typeface="華康儷粗黑(P)" panose="020B0700000000000000" pitchFamily="34" charset="-120"/>
                <a:ea typeface="華康儷粗黑(P)" panose="020B0700000000000000" pitchFamily="34" charset="-120"/>
              </a:rPr>
              <a:t>UFLOW</a:t>
            </a:r>
            <a:r>
              <a:rPr lang="en-US" altLang="zh-TW" sz="6000" dirty="0" smtClean="0">
                <a:solidFill>
                  <a:schemeClr val="accent6">
                    <a:lumMod val="50000"/>
                  </a:schemeClr>
                </a:solidFill>
                <a:latin typeface="華康儷粗黑(P)" panose="020B0700000000000000" pitchFamily="34" charset="-120"/>
                <a:ea typeface="華康儷粗黑(P)" panose="020B0700000000000000" pitchFamily="34" charset="-120"/>
              </a:rPr>
              <a:t> </a:t>
            </a:r>
            <a:r>
              <a:rPr lang="zh-TW" altLang="en-US" sz="6000" dirty="0" smtClean="0">
                <a:solidFill>
                  <a:schemeClr val="accent6">
                    <a:lumMod val="50000"/>
                  </a:schemeClr>
                </a:solidFill>
                <a:latin typeface="華康儷粗黑(P)" panose="020B0700000000000000" pitchFamily="34" charset="-120"/>
                <a:ea typeface="華康儷粗黑(P)" panose="020B0700000000000000" pitchFamily="34" charset="-120"/>
              </a:rPr>
              <a:t>維他菌合生元</a:t>
            </a:r>
            <a:endParaRPr lang="zh-TW" altLang="en-US" sz="6000" dirty="0">
              <a:solidFill>
                <a:schemeClr val="accent6">
                  <a:lumMod val="50000"/>
                </a:schemeClr>
              </a:solidFill>
              <a:latin typeface="華康儷粗黑(P)" panose="020B0700000000000000" pitchFamily="34" charset="-120"/>
              <a:ea typeface="華康儷粗黑(P)" panose="020B0700000000000000" pitchFamily="34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735" y="167250"/>
            <a:ext cx="1396125" cy="139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372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/>
          <p:cNvSpPr txBox="1"/>
          <p:nvPr/>
        </p:nvSpPr>
        <p:spPr>
          <a:xfrm>
            <a:off x="5081049" y="363866"/>
            <a:ext cx="25923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 err="1" smtClean="0"/>
              <a:t>SGS</a:t>
            </a:r>
            <a:r>
              <a:rPr lang="zh-TW" altLang="en-US" sz="4000" dirty="0" smtClean="0"/>
              <a:t>檢驗</a:t>
            </a:r>
            <a:endParaRPr lang="en-US" altLang="zh-TW" sz="4000" dirty="0" smtClean="0"/>
          </a:p>
        </p:txBody>
      </p:sp>
      <p:sp>
        <p:nvSpPr>
          <p:cNvPr id="4" name="矩形 3"/>
          <p:cNvSpPr/>
          <p:nvPr/>
        </p:nvSpPr>
        <p:spPr>
          <a:xfrm>
            <a:off x="3022850" y="1548592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 smtClean="0">
                <a:solidFill>
                  <a:srgbClr val="0A0A0A"/>
                </a:solidFill>
                <a:latin typeface="Arial" panose="020B0604020202020204" pitchFamily="34" charset="0"/>
              </a:rPr>
              <a:t>重金屬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5250830" y="1548592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solidFill>
                  <a:srgbClr val="0A0A0A"/>
                </a:solidFill>
                <a:latin typeface="Arial" panose="020B0604020202020204" pitchFamily="34" charset="0"/>
              </a:rPr>
              <a:t>微生物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7234837" y="1548592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solidFill>
                  <a:srgbClr val="0A0A0A"/>
                </a:solidFill>
                <a:latin typeface="Arial" panose="020B0604020202020204" pitchFamily="34" charset="0"/>
              </a:rPr>
              <a:t>塑化劑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9895340" y="1548592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 smtClean="0">
                <a:solidFill>
                  <a:srgbClr val="0A0A0A"/>
                </a:solidFill>
                <a:latin typeface="Arial" panose="020B0604020202020204" pitchFamily="34" charset="0"/>
              </a:rPr>
              <a:t>農藥殘留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866032" y="155656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 smtClean="0">
                <a:solidFill>
                  <a:srgbClr val="0A0A0A"/>
                </a:solidFill>
                <a:latin typeface="Arial" panose="020B0604020202020204" pitchFamily="34" charset="0"/>
              </a:rPr>
              <a:t>西藥</a:t>
            </a:r>
            <a:r>
              <a:rPr lang="zh-TW" altLang="en-US" b="1" dirty="0">
                <a:solidFill>
                  <a:srgbClr val="0A0A0A"/>
                </a:solidFill>
                <a:latin typeface="Arial" panose="020B0604020202020204" pitchFamily="34" charset="0"/>
              </a:rPr>
              <a:t>成分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4892620" y="5521690"/>
            <a:ext cx="296922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4800" b="1" dirty="0" smtClean="0">
                <a:solidFill>
                  <a:srgbClr val="0A0A0A"/>
                </a:solidFill>
                <a:latin typeface="Arial" panose="020B0604020202020204" pitchFamily="34" charset="0"/>
              </a:rPr>
              <a:t>先驗後售</a:t>
            </a:r>
            <a:endParaRPr lang="zh-TW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484882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300" y="710414"/>
            <a:ext cx="2364007" cy="2626675"/>
          </a:xfrm>
          <a:prstGeom prst="rect">
            <a:avLst/>
          </a:prstGeom>
        </p:spPr>
      </p:pic>
      <p:sp>
        <p:nvSpPr>
          <p:cNvPr id="4" name="文字方塊 3"/>
          <p:cNvSpPr txBox="1"/>
          <p:nvPr/>
        </p:nvSpPr>
        <p:spPr>
          <a:xfrm>
            <a:off x="688157" y="3436070"/>
            <a:ext cx="330880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醫友推薦文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r>
              <a:rPr lang="zh-TW" altLang="en-US" dirty="0" smtClean="0"/>
              <a:t>之後會有拿著產品的照片</a:t>
            </a:r>
            <a:r>
              <a:rPr lang="en-US" altLang="zh-TW" dirty="0" smtClean="0"/>
              <a:t>+</a:t>
            </a:r>
            <a:r>
              <a:rPr lang="zh-TW" altLang="en-US" dirty="0" smtClean="0"/>
              <a:t>文字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702" y="646416"/>
            <a:ext cx="2571924" cy="2789654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5897" y="710414"/>
            <a:ext cx="2604738" cy="2910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196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4355184" y="1"/>
            <a:ext cx="7701697" cy="6858000"/>
          </a:xfrm>
          <a:prstGeom prst="rect">
            <a:avLst/>
          </a:prstGeom>
        </p:spPr>
      </p:pic>
      <p:sp>
        <p:nvSpPr>
          <p:cNvPr id="3" name="文字方塊 2"/>
          <p:cNvSpPr txBox="1"/>
          <p:nvPr/>
        </p:nvSpPr>
        <p:spPr>
          <a:xfrm>
            <a:off x="8710368" y="1564850"/>
            <a:ext cx="9709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 smtClean="0">
                <a:solidFill>
                  <a:srgbClr val="FF0000"/>
                </a:solidFill>
              </a:rPr>
              <a:t>7.6</a:t>
            </a:r>
            <a:endParaRPr lang="zh-TW" altLang="en-US" sz="4000" dirty="0">
              <a:solidFill>
                <a:srgbClr val="FF0000"/>
              </a:solidFill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8608243" y="909375"/>
            <a:ext cx="970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smtClean="0">
                <a:solidFill>
                  <a:srgbClr val="FF0000"/>
                </a:solidFill>
              </a:rPr>
              <a:t>7.6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355184" cy="6928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695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268</Words>
  <Application>Microsoft Office PowerPoint</Application>
  <PresentationFormat>寬螢幕</PresentationFormat>
  <Paragraphs>49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5" baseType="lpstr">
      <vt:lpstr>YACkoNusrzI_0</vt:lpstr>
      <vt:lpstr>華康粗黑體(P)</vt:lpstr>
      <vt:lpstr>華康儷粗黑(P)</vt:lpstr>
      <vt:lpstr>華康儷粗圓</vt:lpstr>
      <vt:lpstr>新細明體</vt:lpstr>
      <vt:lpstr>新細明體</vt:lpstr>
      <vt:lpstr>標楷體</vt:lpstr>
      <vt:lpstr>Arial</vt:lpstr>
      <vt:lpstr>Calibri</vt:lpstr>
      <vt:lpstr>Calibri Light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WinSys</dc:creator>
  <cp:lastModifiedBy>WinSys</cp:lastModifiedBy>
  <cp:revision>40</cp:revision>
  <dcterms:created xsi:type="dcterms:W3CDTF">2026-01-12T05:36:41Z</dcterms:created>
  <dcterms:modified xsi:type="dcterms:W3CDTF">2026-01-15T06:37:34Z</dcterms:modified>
</cp:coreProperties>
</file>