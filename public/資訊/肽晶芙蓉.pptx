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64" r:id="rId4"/>
    <p:sldId id="261" r:id="rId5"/>
    <p:sldId id="257" r:id="rId6"/>
    <p:sldId id="266" r:id="rId7"/>
    <p:sldId id="271" r:id="rId8"/>
    <p:sldId id="269" r:id="rId9"/>
    <p:sldId id="260" r:id="rId10"/>
    <p:sldId id="270" r:id="rId11"/>
    <p:sldId id="272" r:id="rId12"/>
    <p:sldId id="268" r:id="rId13"/>
    <p:sldId id="267" r:id="rId14"/>
    <p:sldId id="258" r:id="rId15"/>
    <p:sldId id="262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33CCCC"/>
    <a:srgbClr val="FFCCCC"/>
    <a:srgbClr val="FF7C80"/>
    <a:srgbClr val="FF9999"/>
    <a:srgbClr val="9999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047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00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6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065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7347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072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48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08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042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515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90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DEAAF-5763-42A2-9A10-392D10DE642D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6DFB0-49CA-451C-B40E-E20C5464F9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2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27.png"/><Relationship Id="rId12" Type="http://schemas.microsoft.com/office/2007/relationships/hdphoto" Target="../media/hdphoto4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microsoft.com/office/2007/relationships/hdphoto" Target="../media/hdphoto2.wdp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138" y="1026563"/>
            <a:ext cx="3903482" cy="390348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083" y="-47308"/>
            <a:ext cx="191386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911930" y="6065133"/>
            <a:ext cx="4327098" cy="335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 smtClean="0">
                <a:latin typeface="YACkoNusrzI_0"/>
              </a:rPr>
              <a:t>致力於經</a:t>
            </a:r>
            <a:r>
              <a:rPr lang="zh-TW" altLang="en-US" sz="1600" b="0" i="0" dirty="0" smtClean="0">
                <a:effectLst/>
                <a:latin typeface="YACkoNusrzI_0"/>
              </a:rPr>
              <a:t>過科學研究提供有效的健康</a:t>
            </a:r>
            <a:r>
              <a:rPr lang="zh-TW" altLang="en-US" sz="1600" dirty="0">
                <a:latin typeface="YACkoNusrzI_0"/>
              </a:rPr>
              <a:t>輔助</a:t>
            </a:r>
            <a:r>
              <a:rPr lang="zh-TW" altLang="en-US" sz="1600" b="0" i="0" dirty="0" smtClean="0">
                <a:effectLst/>
                <a:latin typeface="YACkoNusrzI_0"/>
              </a:rPr>
              <a:t>方案</a:t>
            </a:r>
            <a:endParaRPr lang="en-US" altLang="zh-TW" sz="1600" b="0" i="0" dirty="0" smtClean="0">
              <a:effectLst/>
              <a:latin typeface="YACkoNusrzI_0"/>
            </a:endParaRPr>
          </a:p>
        </p:txBody>
      </p:sp>
    </p:spTree>
    <p:extLst>
      <p:ext uri="{BB962C8B-B14F-4D97-AF65-F5344CB8AC3E}">
        <p14:creationId xmlns:p14="http://schemas.microsoft.com/office/powerpoint/2010/main" val="159869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645" y="-203"/>
            <a:ext cx="1473579" cy="1473579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6636196" y="1282625"/>
            <a:ext cx="43152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華康粗黑體(P)" panose="020B0700000000000000" pitchFamily="34" charset="-120"/>
                <a:ea typeface="華康粗黑體(P)" panose="020B0700000000000000" pitchFamily="34" charset="-120"/>
              </a:rPr>
              <a:t>肽晶芙蓉</a:t>
            </a:r>
            <a:endParaRPr lang="zh-TW" altLang="en-US" sz="8000" dirty="0">
              <a:solidFill>
                <a:schemeClr val="accent2">
                  <a:lumMod val="60000"/>
                  <a:lumOff val="40000"/>
                </a:schemeClr>
              </a:solidFill>
              <a:latin typeface="華康粗黑體(P)" panose="020B0700000000000000" pitchFamily="34" charset="-120"/>
              <a:ea typeface="華康粗黑體(P)" panose="020B0700000000000000" pitchFamily="34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31807" y="6009666"/>
            <a:ext cx="3506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Please join us in pursuing health</a:t>
            </a:r>
            <a:endParaRPr lang="zh-TW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3" t="14106" r="21170" b="8644"/>
          <a:stretch/>
        </p:blipFill>
        <p:spPr>
          <a:xfrm>
            <a:off x="1402776" y="305504"/>
            <a:ext cx="3957737" cy="539865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908" y="3803436"/>
            <a:ext cx="1746588" cy="1202197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435" y="3803435"/>
            <a:ext cx="1746588" cy="1202197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1908" y="5479367"/>
            <a:ext cx="1746588" cy="1177846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435" y="5479367"/>
            <a:ext cx="1746588" cy="117784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393158" y="2686135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華康儷粗圓" panose="020F0709000000000000" pitchFamily="49" charset="-120"/>
                <a:ea typeface="華康儷粗圓" panose="020F0709000000000000" pitchFamily="49" charset="-120"/>
              </a:rPr>
              <a:t>國際原廠    專利足量</a:t>
            </a:r>
            <a:endParaRPr lang="zh-TW" altLang="zh-TW" sz="3600" dirty="0">
              <a:solidFill>
                <a:schemeClr val="accent2">
                  <a:lumMod val="60000"/>
                  <a:lumOff val="40000"/>
                </a:schemeClr>
              </a:solidFill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320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已產生圖像"/>
          <p:cNvSpPr>
            <a:spLocks noChangeAspect="1" noChangeArrowheads="1"/>
          </p:cNvSpPr>
          <p:nvPr/>
        </p:nvSpPr>
        <p:spPr bwMode="auto">
          <a:xfrm>
            <a:off x="155575" y="-144463"/>
            <a:ext cx="6047262" cy="6047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457514" y="5348821"/>
            <a:ext cx="1149064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600" b="1" i="0" dirty="0" smtClean="0">
                <a:solidFill>
                  <a:srgbClr val="002060"/>
                </a:solidFill>
                <a:effectLst/>
                <a:latin typeface="華康粗黑體(P)" panose="020B0700000000000000" pitchFamily="34" charset="-120"/>
                <a:ea typeface="華康粗黑體(P)" panose="020B0700000000000000" pitchFamily="34" charset="-120"/>
              </a:rPr>
              <a:t>不用蘋果光 也會有的</a:t>
            </a:r>
            <a:r>
              <a:rPr lang="zh-TW" altLang="en-US" sz="6600" b="1" dirty="0" smtClean="0">
                <a:solidFill>
                  <a:srgbClr val="002060"/>
                </a:solidFill>
                <a:latin typeface="華康粗黑體(P)" panose="020B0700000000000000" pitchFamily="34" charset="-120"/>
                <a:ea typeface="華康粗黑體(P)" panose="020B0700000000000000" pitchFamily="34" charset="-120"/>
              </a:rPr>
              <a:t>澎澎</a:t>
            </a:r>
            <a:r>
              <a:rPr lang="zh-TW" altLang="en-US" sz="6600" b="1" i="0" dirty="0" smtClean="0">
                <a:solidFill>
                  <a:srgbClr val="002060"/>
                </a:solidFill>
                <a:effectLst/>
                <a:latin typeface="華康粗黑體(P)" panose="020B0700000000000000" pitchFamily="34" charset="-120"/>
                <a:ea typeface="華康粗黑體(P)" panose="020B0700000000000000" pitchFamily="34" charset="-120"/>
              </a:rPr>
              <a:t>自然</a:t>
            </a:r>
            <a:endParaRPr lang="zh-TW" altLang="en-US" sz="6600" dirty="0">
              <a:solidFill>
                <a:srgbClr val="002060"/>
              </a:solidFill>
              <a:latin typeface="華康粗黑體(P)" panose="020B0700000000000000" pitchFamily="34" charset="-120"/>
              <a:ea typeface="華康粗黑體(P)" panose="020B0700000000000000" pitchFamily="34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980388" y="1291472"/>
            <a:ext cx="2055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圖示 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01" y="616801"/>
            <a:ext cx="4202561" cy="280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5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000107" y="75804"/>
            <a:ext cx="3560190" cy="5002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800" b="1" kern="0" dirty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適用族群：</a:t>
            </a:r>
            <a:r>
              <a:rPr lang="en-US" altLang="zh-TW" sz="2800" kern="0" dirty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Times New Roman" panose="02020603050405020304" pitchFamily="18" charset="0"/>
              </a:rPr>
              <a:t>(</a:t>
            </a:r>
            <a:r>
              <a:rPr lang="zh-TW" altLang="zh-TW" sz="2800" kern="0" dirty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圖示</a:t>
            </a:r>
            <a:r>
              <a:rPr lang="en-US" altLang="zh-TW" sz="2800" kern="0" dirty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latin typeface="華康粗圓體" panose="020F0709000000000000" pitchFamily="49" charset="-120"/>
              <a:ea typeface="華康粗圓體" panose="020F0709000000000000" pitchFamily="49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800" b="1" kern="0" dirty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對美極度要求族群</a:t>
            </a:r>
            <a:r>
              <a:rPr lang="zh-TW" altLang="zh-TW" sz="2800" b="1" kern="0" dirty="0" smtClean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、</a:t>
            </a:r>
            <a:endParaRPr lang="en-US" altLang="zh-TW" sz="2800" b="1" kern="0" dirty="0" smtClean="0">
              <a:solidFill>
                <a:srgbClr val="0A0A0A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800" b="1" kern="0" dirty="0" smtClean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醫</a:t>
            </a:r>
            <a:r>
              <a:rPr lang="zh-TW" altLang="zh-TW" sz="2800" b="1" kern="0" dirty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美後保養族群</a:t>
            </a:r>
            <a:r>
              <a:rPr lang="zh-TW" altLang="zh-TW" sz="2800" b="1" kern="0" dirty="0" smtClean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、</a:t>
            </a:r>
            <a:endParaRPr lang="en-US" altLang="zh-TW" sz="2800" b="1" kern="0" dirty="0" smtClean="0">
              <a:solidFill>
                <a:srgbClr val="0A0A0A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800" b="1" kern="0" dirty="0" smtClean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髮</a:t>
            </a:r>
            <a:r>
              <a:rPr lang="zh-TW" altLang="zh-TW" sz="2800" b="1" kern="0" dirty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質脆弱族群</a:t>
            </a:r>
            <a:r>
              <a:rPr lang="zh-TW" altLang="zh-TW" sz="2800" b="1" kern="0" dirty="0" smtClean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、</a:t>
            </a:r>
            <a:endParaRPr lang="en-US" altLang="zh-TW" sz="2800" b="1" kern="0" dirty="0" smtClean="0">
              <a:solidFill>
                <a:srgbClr val="0A0A0A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800" b="1" kern="0" dirty="0" smtClean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經常</a:t>
            </a:r>
            <a:r>
              <a:rPr lang="zh-TW" altLang="zh-TW" sz="2800" b="1" kern="0" dirty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飲酒族群</a:t>
            </a:r>
            <a:r>
              <a:rPr lang="zh-TW" altLang="zh-TW" sz="2800" b="1" kern="0" dirty="0" smtClean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、</a:t>
            </a:r>
            <a:endParaRPr lang="en-US" altLang="zh-TW" sz="2800" b="1" kern="0" dirty="0" smtClean="0">
              <a:solidFill>
                <a:srgbClr val="0A0A0A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800" b="1" kern="0" dirty="0" smtClean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身體</a:t>
            </a:r>
            <a:r>
              <a:rPr lang="zh-TW" altLang="zh-TW" sz="2800" b="1" kern="0" dirty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卡卡族群</a:t>
            </a:r>
            <a:r>
              <a:rPr lang="zh-TW" altLang="zh-TW" sz="2800" b="1" kern="0" dirty="0" smtClean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、</a:t>
            </a:r>
            <a:endParaRPr lang="en-US" altLang="zh-TW" sz="2800" b="1" kern="0" dirty="0" smtClean="0">
              <a:solidFill>
                <a:srgbClr val="0A0A0A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800" b="1" kern="0" dirty="0" smtClean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運動</a:t>
            </a:r>
            <a:r>
              <a:rPr lang="zh-TW" altLang="zh-TW" sz="2800" b="1" kern="0" dirty="0">
                <a:solidFill>
                  <a:srgbClr val="0A0A0A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Arial" panose="020B0604020202020204" pitchFamily="34" charset="0"/>
              </a:rPr>
              <a:t>健身族群</a:t>
            </a:r>
            <a:endParaRPr lang="zh-TW" altLang="zh-TW" sz="2800" kern="100" dirty="0">
              <a:latin typeface="華康粗圓體" panose="020F0709000000000000" pitchFamily="49" charset="-120"/>
              <a:ea typeface="華康粗圓體" panose="020F0709000000000000" pitchFamily="49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0745" y="5425049"/>
            <a:ext cx="106899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8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重建17歲の素顏元氣</a:t>
            </a:r>
            <a:endParaRPr kumimoji="0" lang="zh-TW" altLang="zh-TW" sz="8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13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547" y="1742280"/>
            <a:ext cx="3390236" cy="37034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10660" y="5854049"/>
            <a:ext cx="106267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6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醫護+營養界 </a:t>
            </a:r>
            <a:r>
              <a:rPr kumimoji="0" lang="zh-TW" altLang="zh-TW" sz="6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推薦</a:t>
            </a:r>
            <a:r>
              <a:rPr kumimoji="0" lang="zh-TW" altLang="en-US" sz="6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文</a:t>
            </a:r>
            <a:endParaRPr kumimoji="0" lang="en-US" altLang="zh-TW" sz="60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901" y="1760704"/>
            <a:ext cx="3095432" cy="368503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073" y="1742280"/>
            <a:ext cx="3334960" cy="361133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27629" y="311229"/>
            <a:ext cx="1018740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6000" b="1" dirty="0">
                <a:solidFill>
                  <a:srgbClr val="000000"/>
                </a:solidFill>
                <a:latin typeface="Arial" panose="020B0604020202020204" pitchFamily="34" charset="0"/>
              </a:rPr>
              <a:t>醫</a:t>
            </a:r>
            <a:r>
              <a:rPr lang="zh-TW" altLang="zh-TW" sz="6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美</a:t>
            </a:r>
            <a:r>
              <a:rPr lang="zh-TW" altLang="en-US" sz="6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族</a:t>
            </a:r>
            <a:r>
              <a:rPr lang="zh-TW" altLang="zh-TW" sz="6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・</a:t>
            </a:r>
            <a:r>
              <a:rPr lang="zh-TW" altLang="en-US" sz="6000" b="1" dirty="0">
                <a:solidFill>
                  <a:srgbClr val="000000"/>
                </a:solidFill>
                <a:latin typeface="Arial" panose="020B0604020202020204" pitchFamily="34" charset="0"/>
              </a:rPr>
              <a:t>基</a:t>
            </a:r>
            <a:r>
              <a:rPr lang="zh-TW" altLang="zh-TW" sz="6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底</a:t>
            </a:r>
            <a:r>
              <a:rPr lang="zh-TW" altLang="zh-TW" sz="6000" b="1" dirty="0">
                <a:solidFill>
                  <a:srgbClr val="000000"/>
                </a:solidFill>
                <a:latin typeface="Arial" panose="020B0604020202020204" pitchFamily="34" charset="0"/>
              </a:rPr>
              <a:t>透亮抗氧化配方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90362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20945" cy="1597534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365" y="902"/>
            <a:ext cx="2319635" cy="159663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92825"/>
            <a:ext cx="2320945" cy="15651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0000" y="5159674"/>
            <a:ext cx="2322000" cy="168597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430956" y="1142859"/>
            <a:ext cx="162972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彈緊</a:t>
            </a:r>
            <a:r>
              <a:rPr lang="zh-TW" altLang="zh-TW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嫩</a:t>
            </a:r>
            <a:endParaRPr lang="en-US" altLang="zh-TW" sz="3200" b="1" kern="100" dirty="0" smtClean="0">
              <a:latin typeface="華康儷粗圓" panose="020F0709000000000000" pitchFamily="49" charset="-120"/>
              <a:ea typeface="華康儷粗圓" panose="020F0709000000000000" pitchFamily="49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sz="3200" b="1" kern="100" dirty="0" smtClean="0">
              <a:latin typeface="華康儷粗圓" panose="020F0709000000000000" pitchFamily="49" charset="-120"/>
              <a:ea typeface="華康儷粗圓" panose="020F0709000000000000" pitchFamily="49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          </a:t>
            </a:r>
          </a:p>
          <a:p>
            <a:pPr>
              <a:spcAft>
                <a:spcPts val="0"/>
              </a:spcAft>
            </a:pPr>
            <a:r>
              <a:rPr lang="zh-TW" altLang="zh-TW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防</a:t>
            </a:r>
            <a:r>
              <a:rPr lang="zh-TW" altLang="zh-TW" sz="3200" b="1" kern="100" dirty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光</a:t>
            </a:r>
            <a:r>
              <a:rPr lang="zh-TW" altLang="zh-TW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傷</a:t>
            </a:r>
            <a:endParaRPr lang="en-US" altLang="zh-TW" sz="3200" b="1" kern="100" dirty="0" smtClean="0">
              <a:latin typeface="華康儷粗圓" panose="020F0709000000000000" pitchFamily="49" charset="-120"/>
              <a:ea typeface="華康儷粗圓" panose="020F0709000000000000" pitchFamily="49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sz="3200" b="1" kern="100" dirty="0" smtClean="0">
              <a:latin typeface="華康儷粗圓" panose="020F0709000000000000" pitchFamily="49" charset="-120"/>
              <a:ea typeface="華康儷粗圓" panose="020F0709000000000000" pitchFamily="49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          </a:t>
            </a:r>
          </a:p>
          <a:p>
            <a:pPr>
              <a:spcAft>
                <a:spcPts val="0"/>
              </a:spcAft>
            </a:pPr>
            <a:r>
              <a:rPr lang="zh-TW" altLang="zh-TW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抗氧化</a:t>
            </a:r>
            <a:endParaRPr lang="en-US" altLang="zh-TW" sz="3200" b="1" kern="100" dirty="0" smtClean="0">
              <a:latin typeface="華康儷粗圓" panose="020F0709000000000000" pitchFamily="49" charset="-120"/>
              <a:ea typeface="華康儷粗圓" panose="020F0709000000000000" pitchFamily="49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sz="3200" b="1" kern="100" dirty="0">
              <a:latin typeface="華康儷粗圓" panose="020F0709000000000000" pitchFamily="49" charset="-120"/>
              <a:ea typeface="華康儷粗圓" panose="020F0709000000000000" pitchFamily="49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        </a:t>
            </a:r>
          </a:p>
          <a:p>
            <a:pPr>
              <a:spcAft>
                <a:spcPts val="0"/>
              </a:spcAft>
            </a:pPr>
            <a:r>
              <a:rPr lang="zh-TW" altLang="zh-TW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高吸收</a:t>
            </a:r>
            <a:endParaRPr lang="en-US" altLang="zh-TW" sz="3200" b="1" kern="100" dirty="0" smtClean="0">
              <a:latin typeface="華康儷粗圓" panose="020F0709000000000000" pitchFamily="49" charset="-120"/>
              <a:ea typeface="華康儷粗圓" panose="020F0709000000000000" pitchFamily="49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圖示</a:t>
            </a:r>
            <a:r>
              <a:rPr lang="en-US" altLang="zh-TW" sz="3200" b="1" kern="100" dirty="0" smtClean="0">
                <a:latin typeface="華康儷粗圓" panose="020F0709000000000000" pitchFamily="49" charset="-120"/>
                <a:ea typeface="華康儷粗圓" panose="020F0709000000000000" pitchFamily="49" charset="-120"/>
                <a:cs typeface="Times New Roman" panose="02020603050405020304" pitchFamily="18" charset="0"/>
              </a:rPr>
              <a:t>)</a:t>
            </a:r>
            <a:endParaRPr lang="zh-TW" altLang="zh-TW" sz="3200" kern="100" dirty="0">
              <a:latin typeface="華康儷粗圓" panose="020F0709000000000000" pitchFamily="49" charset="-120"/>
              <a:ea typeface="華康儷粗圓" panose="020F0709000000000000" pitchFamily="49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82229" y="275547"/>
            <a:ext cx="64142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為什麼肽晶芙蓉是醫美族的隨身寶藏</a:t>
            </a:r>
            <a:r>
              <a:rPr lang="en-US" altLang="zh-TW" sz="28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?</a:t>
            </a:r>
          </a:p>
        </p:txBody>
      </p:sp>
      <p:sp>
        <p:nvSpPr>
          <p:cNvPr id="13" name="矩形 12"/>
          <p:cNvSpPr/>
          <p:nvPr/>
        </p:nvSpPr>
        <p:spPr>
          <a:xfrm>
            <a:off x="151120" y="1800708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內在抗氧化核心，醫美族熟悉的日常補給</a:t>
            </a:r>
            <a:endParaRPr lang="en-US" altLang="zh-TW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11694" y="1800708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茄紅素來源，維持透亮感與健康氣色</a:t>
            </a:r>
            <a:endParaRPr lang="en-US" altLang="zh-TW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20" y="4720319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與</a:t>
            </a:r>
            <a:r>
              <a:rPr lang="zh-TW" altLang="en-US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表面</a:t>
            </a:r>
            <a:r>
              <a:rPr lang="zh-TW" altLang="en-US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結構</a:t>
            </a:r>
            <a:r>
              <a:rPr lang="zh-TW" altLang="en-US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相關，讓狀態更細緻穩定</a:t>
            </a:r>
          </a:p>
        </p:txBody>
      </p:sp>
      <p:sp>
        <p:nvSpPr>
          <p:cNvPr id="16" name="矩形 15"/>
          <p:cNvSpPr/>
          <p:nvPr/>
        </p:nvSpPr>
        <p:spPr>
          <a:xfrm>
            <a:off x="8184675" y="4720319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支持抗氧化循環，幫助營養協同作用</a:t>
            </a:r>
            <a:endParaRPr lang="en-US" altLang="zh-TW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37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7" y="2724346"/>
            <a:ext cx="5222450" cy="3615213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952106" y="518161"/>
            <a:ext cx="3229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微脂體包覆技術</a:t>
            </a:r>
            <a:endParaRPr lang="zh-TW" altLang="en-US" sz="32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/>
          <a:srcRect l="26858" b="70958"/>
          <a:stretch/>
        </p:blipFill>
        <p:spPr>
          <a:xfrm>
            <a:off x="797036" y="1312060"/>
            <a:ext cx="3384224" cy="120316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440" y="1102936"/>
            <a:ext cx="6617016" cy="5626242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7819111" y="518161"/>
            <a:ext cx="2479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微脂體的優勢</a:t>
            </a:r>
          </a:p>
        </p:txBody>
      </p:sp>
    </p:spTree>
    <p:extLst>
      <p:ext uri="{BB962C8B-B14F-4D97-AF65-F5344CB8AC3E}">
        <p14:creationId xmlns:p14="http://schemas.microsoft.com/office/powerpoint/2010/main" val="296476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l="4053" t="6913" r="1922" b="3752"/>
          <a:stretch/>
        </p:blipFill>
        <p:spPr>
          <a:xfrm>
            <a:off x="8000410" y="3120008"/>
            <a:ext cx="3823574" cy="241293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12280" y="143296"/>
            <a:ext cx="94179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數據告訴</a:t>
            </a:r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你  微脂體榖</a:t>
            </a:r>
            <a:r>
              <a:rPr lang="zh-TW" altLang="en-US" sz="40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胱甘</a:t>
            </a:r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肽拒絕黑色素</a:t>
            </a:r>
            <a:endParaRPr lang="zh-TW" altLang="en-US" sz="40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67" y="1705444"/>
            <a:ext cx="2682096" cy="90473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1" y="3042781"/>
            <a:ext cx="3723667" cy="272201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3774" y="1724962"/>
            <a:ext cx="2682096" cy="91023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8886" y="2888160"/>
            <a:ext cx="3925695" cy="287663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7"/>
          <a:srcRect t="1" r="69527" b="17138"/>
          <a:stretch/>
        </p:blipFill>
        <p:spPr>
          <a:xfrm>
            <a:off x="8171896" y="1779478"/>
            <a:ext cx="3148107" cy="254186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7"/>
          <a:srcRect l="54868" t="7071" b="-1"/>
          <a:stretch/>
        </p:blipFill>
        <p:spPr>
          <a:xfrm>
            <a:off x="7667917" y="2401665"/>
            <a:ext cx="4156067" cy="25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0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4731" y="118552"/>
            <a:ext cx="695575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數據告訴</a:t>
            </a:r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你  冰晶番茄吸收</a:t>
            </a:r>
            <a:r>
              <a:rPr lang="en-US" altLang="zh-TW" sz="48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UV</a:t>
            </a:r>
            <a:endParaRPr lang="zh-TW" altLang="en-US" sz="40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pic>
        <p:nvPicPr>
          <p:cNvPr id="1027" name="圖片 4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540" y="1725105"/>
            <a:ext cx="5856001" cy="430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圖片 4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78" y="2159329"/>
            <a:ext cx="5488162" cy="312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43934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b="0" i="0" u="none" strike="noStrike" cap="none" normalizeH="0" baseline="0" smtClean="0">
                <a:ln>
                  <a:noFill/>
                </a:ln>
                <a:solidFill>
                  <a:srgbClr val="333333"/>
                </a:solidFill>
                <a:effectLst/>
                <a:latin typeface="華康儷粗圓" panose="020F0709000000000000" pitchFamily="49" charset="-120"/>
                <a:ea typeface="華康儷粗圓" panose="020F0709000000000000" pitchFamily="49" charset="-120"/>
                <a:cs typeface="Segoe UI" panose="020B0502040204020203" pitchFamily="34" charset="0"/>
              </a:rPr>
              <a:t> </a:t>
            </a:r>
            <a:endParaRPr kumimoji="0" lang="en-US" altLang="zh-TW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0" y="32316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0" y="6597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347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4639" y="4628385"/>
            <a:ext cx="3368673" cy="229556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50829" y="192039"/>
            <a:ext cx="11670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數據告訴你 複方維生素</a:t>
            </a:r>
            <a:r>
              <a:rPr lang="en-US" altLang="zh-TW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C</a:t>
            </a:r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 </a:t>
            </a:r>
            <a:r>
              <a:rPr lang="en-US" altLang="zh-TW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24</a:t>
            </a:r>
            <a:r>
              <a:rPr lang="zh-TW" altLang="en-US" sz="40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小時緩慢</a:t>
            </a:r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釋放</a:t>
            </a:r>
            <a:r>
              <a:rPr lang="zh-TW" altLang="en-US" sz="40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的</a:t>
            </a:r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續航力</a:t>
            </a:r>
            <a:endParaRPr lang="zh-TW" altLang="en-US" sz="40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074328" y="4188842"/>
            <a:ext cx="3445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促進效果顯著</a:t>
            </a:r>
            <a:r>
              <a:rPr lang="zh-TW" altLang="en-US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優於其他</a:t>
            </a:r>
            <a:r>
              <a:rPr lang="en-US" altLang="zh-TW" sz="2800" dirty="0" smtClean="0"/>
              <a:t>3</a:t>
            </a:r>
            <a:r>
              <a:rPr lang="zh-TW" altLang="en-US" sz="2800" dirty="0" smtClean="0"/>
              <a:t>倍</a:t>
            </a:r>
            <a:endParaRPr lang="zh-TW" altLang="en-US" sz="28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Marker/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6857" y="1639885"/>
            <a:ext cx="3193489" cy="250877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6"/>
          <a:srcRect l="43429" t="13053"/>
          <a:stretch/>
        </p:blipFill>
        <p:spPr>
          <a:xfrm>
            <a:off x="7602987" y="1088854"/>
            <a:ext cx="4356575" cy="59351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0305" y="1758213"/>
            <a:ext cx="3793782" cy="2477698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9"/>
          <a:srcRect l="21502" t="-1800"/>
          <a:stretch/>
        </p:blipFill>
        <p:spPr>
          <a:xfrm>
            <a:off x="1545205" y="4374036"/>
            <a:ext cx="1936791" cy="329727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10"/>
          <a:srcRect l="25582" t="3903" b="-1"/>
          <a:stretch/>
        </p:blipFill>
        <p:spPr>
          <a:xfrm>
            <a:off x="414779" y="1125298"/>
            <a:ext cx="4901481" cy="346956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6857" y="4713190"/>
            <a:ext cx="3299445" cy="2163664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4982079" y="3757954"/>
            <a:ext cx="17436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/>
              <a:t>數據部分</a:t>
            </a:r>
            <a:endParaRPr lang="en-US" altLang="zh-TW" sz="2800" dirty="0" smtClean="0"/>
          </a:p>
          <a:p>
            <a:r>
              <a:rPr lang="zh-TW" altLang="en-US" sz="2800" dirty="0" smtClean="0"/>
              <a:t>礙於法規  </a:t>
            </a:r>
            <a:endParaRPr lang="en-US" altLang="zh-TW" sz="2800" dirty="0" smtClean="0"/>
          </a:p>
          <a:p>
            <a:r>
              <a:rPr lang="zh-TW" altLang="en-US" sz="2800" dirty="0" smtClean="0"/>
              <a:t>私下索取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3324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298381" y="335230"/>
            <a:ext cx="37383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數據告訴你  </a:t>
            </a:r>
            <a:endParaRPr lang="en-US" altLang="zh-TW" sz="4000" dirty="0" smtClean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  <a:p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正矽酸</a:t>
            </a:r>
            <a:r>
              <a:rPr lang="en-US" altLang="zh-TW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AAA</a:t>
            </a:r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活性</a:t>
            </a:r>
            <a:endParaRPr lang="zh-TW" altLang="en-US" sz="40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t="2861"/>
          <a:stretch/>
        </p:blipFill>
        <p:spPr>
          <a:xfrm>
            <a:off x="0" y="3195686"/>
            <a:ext cx="3602607" cy="342048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/>
          <a:srcRect t="42949" r="5228"/>
          <a:stretch/>
        </p:blipFill>
        <p:spPr>
          <a:xfrm>
            <a:off x="3699148" y="4411744"/>
            <a:ext cx="3653759" cy="203866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b="72365"/>
          <a:stretch/>
        </p:blipFill>
        <p:spPr>
          <a:xfrm>
            <a:off x="3503068" y="3195686"/>
            <a:ext cx="3946380" cy="101083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989" y="3289196"/>
            <a:ext cx="4230364" cy="3356701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9964131" y="6266071"/>
            <a:ext cx="546755" cy="379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時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8" name="圖片 7"/>
          <p:cNvPicPr/>
          <p:nvPr/>
        </p:nvPicPr>
        <p:blipFill>
          <a:blip r:embed="rId5"/>
          <a:stretch>
            <a:fillRect/>
          </a:stretch>
        </p:blipFill>
        <p:spPr>
          <a:xfrm>
            <a:off x="4587577" y="240852"/>
            <a:ext cx="5225725" cy="231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28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59890" y="190653"/>
            <a:ext cx="4075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數據告訴你  </a:t>
            </a:r>
            <a:endParaRPr lang="en-US" altLang="zh-TW" sz="4000" dirty="0" smtClean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  <a:p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正</a:t>
            </a:r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矽酸的滿意度</a:t>
            </a:r>
            <a:endParaRPr lang="zh-TW" altLang="en-US" sz="40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157220" y="4270342"/>
            <a:ext cx="312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AAA</a:t>
            </a:r>
            <a:r>
              <a:rPr lang="zh-TW" altLang="en-US" sz="2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級 正矽酸 活性認證</a:t>
            </a:r>
            <a:endParaRPr lang="zh-TW" altLang="en-US" sz="20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374037" y="704562"/>
            <a:ext cx="60051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3200" dirty="0"/>
              <a:t>超過 </a:t>
            </a:r>
            <a:r>
              <a:rPr lang="en-US" altLang="zh-TW" sz="3200" dirty="0"/>
              <a:t>65% </a:t>
            </a:r>
            <a:r>
              <a:rPr lang="zh-TW" altLang="en-US" sz="3200" dirty="0"/>
              <a:t>的</a:t>
            </a:r>
            <a:r>
              <a:rPr lang="zh-TW" altLang="en-US" sz="3200" dirty="0" smtClean="0"/>
              <a:t>消費者對正矽酸</a:t>
            </a:r>
            <a:r>
              <a:rPr lang="zh-TW" altLang="en-US" sz="3200" dirty="0"/>
              <a:t>滿意</a:t>
            </a:r>
            <a:endParaRPr lang="zh-TW" altLang="en-US" sz="32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/>
          <a:srcRect l="721"/>
          <a:stretch/>
        </p:blipFill>
        <p:spPr>
          <a:xfrm>
            <a:off x="359890" y="1536700"/>
            <a:ext cx="11472220" cy="5144755"/>
          </a:xfrm>
          <a:prstGeom prst="rect">
            <a:avLst/>
          </a:prstGeom>
        </p:spPr>
      </p:pic>
      <p:sp>
        <p:nvSpPr>
          <p:cNvPr id="11" name="橢圓 10"/>
          <p:cNvSpPr/>
          <p:nvPr/>
        </p:nvSpPr>
        <p:spPr>
          <a:xfrm>
            <a:off x="1348032" y="1906032"/>
            <a:ext cx="952107" cy="186719"/>
          </a:xfrm>
          <a:prstGeom prst="ellipse">
            <a:avLst/>
          </a:prstGeom>
          <a:solidFill>
            <a:srgbClr val="FF7C8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8664803" y="1934313"/>
            <a:ext cx="952107" cy="186719"/>
          </a:xfrm>
          <a:prstGeom prst="ellipse">
            <a:avLst/>
          </a:prstGeom>
          <a:solidFill>
            <a:srgbClr val="FF7C8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4922361" y="1906032"/>
            <a:ext cx="1038520" cy="215000"/>
          </a:xfrm>
          <a:prstGeom prst="ellipse">
            <a:avLst/>
          </a:prstGeom>
          <a:solidFill>
            <a:srgbClr val="FFCCCC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1566420" y="4276743"/>
            <a:ext cx="952107" cy="163282"/>
          </a:xfrm>
          <a:prstGeom prst="ellipse">
            <a:avLst/>
          </a:prstGeom>
          <a:solidFill>
            <a:srgbClr val="33CCCC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5008774" y="4225126"/>
            <a:ext cx="952107" cy="205472"/>
          </a:xfrm>
          <a:prstGeom prst="ellipse">
            <a:avLst/>
          </a:prstGeom>
          <a:solidFill>
            <a:srgbClr val="009999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8804999" y="4187507"/>
            <a:ext cx="1102572" cy="177104"/>
          </a:xfrm>
          <a:prstGeom prst="ellipse">
            <a:avLst/>
          </a:prstGeom>
          <a:solidFill>
            <a:srgbClr val="33CCCC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10753916" y="642436"/>
            <a:ext cx="1161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名稱</a:t>
            </a:r>
            <a:r>
              <a:rPr lang="zh-TW" altLang="en-US" sz="1600" dirty="0" smtClean="0"/>
              <a:t>部分</a:t>
            </a:r>
            <a:endParaRPr lang="en-US" altLang="zh-TW" sz="1600" dirty="0" smtClean="0"/>
          </a:p>
          <a:p>
            <a:r>
              <a:rPr lang="zh-TW" altLang="en-US" sz="1600" dirty="0" smtClean="0"/>
              <a:t>礙於法規  </a:t>
            </a:r>
            <a:endParaRPr lang="en-US" altLang="zh-TW" sz="1600" dirty="0" smtClean="0"/>
          </a:p>
          <a:p>
            <a:r>
              <a:rPr lang="zh-TW" altLang="en-US" sz="1600" dirty="0" smtClean="0"/>
              <a:t>私下索取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5663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73776" y="485355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dirty="0" smtClean="0"/>
              <a:t>肽晶芙蓉｜醫美</a:t>
            </a:r>
            <a:r>
              <a:rPr lang="zh-TW" altLang="en-US" dirty="0"/>
              <a:t>族</a:t>
            </a:r>
            <a:r>
              <a:rPr lang="ja-JP" altLang="en-US" dirty="0" smtClean="0"/>
              <a:t>・</a:t>
            </a:r>
            <a:r>
              <a:rPr lang="zh-TW" altLang="en-US" dirty="0" smtClean="0"/>
              <a:t>基</a:t>
            </a:r>
            <a:r>
              <a:rPr lang="ja-JP" altLang="en-US" dirty="0" smtClean="0"/>
              <a:t>底</a:t>
            </a:r>
            <a:r>
              <a:rPr lang="ja-JP" altLang="en-US" dirty="0" smtClean="0"/>
              <a:t>透亮抗氧化配方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1630838" y="1042597"/>
            <a:ext cx="2592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err="1" smtClean="0"/>
              <a:t>SGS</a:t>
            </a:r>
            <a:r>
              <a:rPr lang="zh-TW" altLang="en-US" sz="4000" dirty="0" smtClean="0"/>
              <a:t>檢驗</a:t>
            </a:r>
            <a:endParaRPr lang="en-US" altLang="zh-TW" sz="4000" dirty="0" smtClean="0"/>
          </a:p>
        </p:txBody>
      </p:sp>
      <p:sp>
        <p:nvSpPr>
          <p:cNvPr id="4" name="矩形 3"/>
          <p:cNvSpPr/>
          <p:nvPr/>
        </p:nvSpPr>
        <p:spPr>
          <a:xfrm>
            <a:off x="2212120" y="203553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重金屬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3784626" y="203553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0A0A0A"/>
                </a:solidFill>
                <a:latin typeface="Arial" panose="020B0604020202020204" pitchFamily="34" charset="0"/>
              </a:rPr>
              <a:t>微生物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89734" y="422822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0A0A0A"/>
                </a:solidFill>
                <a:latin typeface="Arial" panose="020B0604020202020204" pitchFamily="34" charset="0"/>
              </a:rPr>
              <a:t>塑化劑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013772" y="422822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農藥殘留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535736" y="206549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西藥</a:t>
            </a:r>
            <a:r>
              <a:rPr lang="zh-TW" altLang="en-US" b="1" dirty="0">
                <a:solidFill>
                  <a:srgbClr val="0A0A0A"/>
                </a:solidFill>
                <a:latin typeface="Arial" panose="020B0604020202020204" pitchFamily="34" charset="0"/>
              </a:rPr>
              <a:t>成分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89734" y="5975446"/>
            <a:ext cx="28387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4800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先驗</a:t>
            </a:r>
            <a:r>
              <a:rPr lang="zh-TW" altLang="en-US" sz="4800" b="1" dirty="0">
                <a:solidFill>
                  <a:srgbClr val="0A0A0A"/>
                </a:solidFill>
                <a:latin typeface="Arial" panose="020B0604020202020204" pitchFamily="34" charset="0"/>
              </a:rPr>
              <a:t>後售</a:t>
            </a:r>
            <a:endParaRPr lang="zh-TW" altLang="en-US" sz="4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804634" y="854687"/>
            <a:ext cx="226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 smtClean="0"/>
              <a:t>國際認證   </a:t>
            </a:r>
            <a:endParaRPr lang="zh-TW" altLang="en-US" sz="3600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690" y="1501018"/>
            <a:ext cx="3372321" cy="2457793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963" y="3963825"/>
            <a:ext cx="3787319" cy="2445786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436" y="5853414"/>
            <a:ext cx="4480732" cy="98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8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801" y="2439319"/>
            <a:ext cx="4941327" cy="4156424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66" y="261328"/>
            <a:ext cx="1791972" cy="2539899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072" y="370238"/>
            <a:ext cx="2034947" cy="2421873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6376" y="361859"/>
            <a:ext cx="1945909" cy="2430252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285" y="276520"/>
            <a:ext cx="2068873" cy="2384465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311" y="3205291"/>
            <a:ext cx="2120761" cy="2752449"/>
          </a:xfrm>
          <a:prstGeom prst="rect">
            <a:avLst/>
          </a:prstGeom>
        </p:spPr>
      </p:pic>
      <p:pic>
        <p:nvPicPr>
          <p:cNvPr id="28" name="圖片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8738" y="3205291"/>
            <a:ext cx="2367443" cy="2925256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1354" y="3205291"/>
            <a:ext cx="2244519" cy="3241655"/>
          </a:xfrm>
          <a:prstGeom prst="rect">
            <a:avLst/>
          </a:prstGeom>
        </p:spPr>
      </p:pic>
      <p:sp>
        <p:nvSpPr>
          <p:cNvPr id="18" name="文字方塊 17"/>
          <p:cNvSpPr txBox="1"/>
          <p:nvPr/>
        </p:nvSpPr>
        <p:spPr>
          <a:xfrm>
            <a:off x="8804634" y="854687"/>
            <a:ext cx="226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 smtClean="0"/>
              <a:t>國際認證  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6826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76520" y="197908"/>
            <a:ext cx="4568857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品名：</a:t>
            </a:r>
            <a:r>
              <a:rPr lang="en-US" altLang="zh-TW" sz="2000" b="1" kern="100" dirty="0" err="1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UFLOW</a:t>
            </a:r>
            <a:r>
              <a:rPr lang="en-US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</a:t>
            </a:r>
            <a:r>
              <a:rPr lang="zh-TW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肽晶芙蓉</a:t>
            </a:r>
            <a:r>
              <a:rPr lang="en-US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(</a:t>
            </a:r>
            <a:r>
              <a:rPr lang="zh-TW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膠囊</a:t>
            </a:r>
            <a:r>
              <a:rPr lang="en-US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成分：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en-US" altLang="zh-TW" kern="100" dirty="0" err="1">
                <a:latin typeface="標楷體" panose="03000509000000000000" pitchFamily="65" charset="-120"/>
                <a:cs typeface="Arial" panose="020B0604020202020204" pitchFamily="34" charset="0"/>
              </a:rPr>
              <a:t>LiposoMax</a:t>
            </a:r>
            <a:r>
              <a:rPr lang="en-US" altLang="zh-TW" kern="100" dirty="0">
                <a:latin typeface="標楷體" panose="03000509000000000000" pitchFamily="65" charset="-120"/>
                <a:cs typeface="Arial" panose="020B0604020202020204" pitchFamily="34" charset="0"/>
              </a:rPr>
              <a:t>®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微脂體穀胱甘肽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含穀胱甘肽、向日葵卵磷脂、米糠粉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、</a:t>
            </a:r>
            <a:r>
              <a:rPr lang="en-US" altLang="zh-TW" kern="100" dirty="0" err="1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PUREWAY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-C®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複方維生素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 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含抗壞血酸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維生素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C)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、柑橘萃取物、米糠粉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、</a:t>
            </a:r>
            <a:r>
              <a:rPr lang="zh-TW" altLang="zh-TW" kern="100" dirty="0">
                <a:solidFill>
                  <a:srgbClr val="00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麥芽糊精、</a:t>
            </a:r>
            <a:r>
              <a:rPr lang="en-US" altLang="zh-TW" kern="100" dirty="0" err="1">
                <a:solidFill>
                  <a:srgbClr val="00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Phytonoid</a:t>
            </a:r>
            <a:r>
              <a:rPr lang="en-US" altLang="zh-TW" kern="100" dirty="0">
                <a:solidFill>
                  <a:srgbClr val="00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®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白番茄萃取物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冰晶番茄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含白番茄萃取物、α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-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環狀糊精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、</a:t>
            </a:r>
            <a:r>
              <a:rPr lang="en-US" altLang="zh-TW" kern="100" dirty="0" err="1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Mesoporosil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®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正矽酸複合物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含醋酸鈣、二氧化矽、微結晶α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-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纖維素、羥丙基纖維素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zh-TW" kern="100" dirty="0">
                <a:solidFill>
                  <a:srgbClr val="00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、硬脂酸鎂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膠囊成分：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羥丙基甲基纖維素、二氧化鈦。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容量：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每一份量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0.86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公克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(2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顆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  30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顆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/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盒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建議用量：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每日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顆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一日請勿超過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顆  多食無益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保存方法：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請放置於常溫且乾燥陰涼處，避免潮溼高溫及陽光直射。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保存期限：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三年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未開封且依保存方法保存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有效日期：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詳見包裝標示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產地：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台灣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 smtClean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投保</a:t>
            </a: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產品責任險：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已投保產物產品責任險新台幣一千萬，投保金額不等同理賠金額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10373" y="4816828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警語</a:t>
            </a:r>
            <a:r>
              <a:rPr lang="en-US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:</a:t>
            </a:r>
            <a:r>
              <a:rPr lang="en-US" altLang="zh-TW" kern="100" dirty="0">
                <a:latin typeface="標楷體" panose="03000509000000000000" pitchFamily="65" charset="-120"/>
                <a:cs typeface="Arial" panose="020B0604020202020204" pitchFamily="34" charset="0"/>
              </a:rPr>
              <a:t> 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kern="100" dirty="0" smtClean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對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穀胱甘肽過敏者、孕婦、哺乳婦女及嬰幼兒應避免食用，一日請勿超過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顆，多食無益。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en-US" altLang="zh-TW" b="1" kern="100" dirty="0">
                <a:latin typeface="標楷體" panose="03000509000000000000" pitchFamily="65" charset="-120"/>
                <a:cs typeface="Arial" panose="020B0604020202020204" pitchFamily="34" charset="0"/>
              </a:rPr>
              <a:t> 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sz="28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素食者可食用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172681"/>
              </p:ext>
            </p:extLst>
          </p:nvPr>
        </p:nvGraphicFramePr>
        <p:xfrm>
          <a:off x="5934519" y="311086"/>
          <a:ext cx="5047708" cy="43972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3039">
                  <a:extLst>
                    <a:ext uri="{9D8B030D-6E8A-4147-A177-3AD203B41FA5}">
                      <a16:colId xmlns:a16="http://schemas.microsoft.com/office/drawing/2014/main" val="667772573"/>
                    </a:ext>
                  </a:extLst>
                </a:gridCol>
                <a:gridCol w="1402112">
                  <a:extLst>
                    <a:ext uri="{9D8B030D-6E8A-4147-A177-3AD203B41FA5}">
                      <a16:colId xmlns:a16="http://schemas.microsoft.com/office/drawing/2014/main" val="2858667240"/>
                    </a:ext>
                  </a:extLst>
                </a:gridCol>
                <a:gridCol w="1602557">
                  <a:extLst>
                    <a:ext uri="{9D8B030D-6E8A-4147-A177-3AD203B41FA5}">
                      <a16:colId xmlns:a16="http://schemas.microsoft.com/office/drawing/2014/main" val="11542865"/>
                    </a:ext>
                  </a:extLst>
                </a:gridCol>
              </a:tblGrid>
              <a:tr h="423587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200" kern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營養成分標示</a:t>
                      </a:r>
                      <a:endParaRPr lang="en-US" altLang="zh-TW" sz="1200" kern="0" dirty="0" smtClean="0"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49155"/>
                  </a:ext>
                </a:extLst>
              </a:tr>
              <a:tr h="79472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effectLst/>
                        </a:rPr>
                        <a:t>每份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17780" marR="177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effectLst/>
                        </a:rPr>
                        <a:t>每日參考值百分比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17780" marR="17780" marT="9525" marB="0" anchor="ctr"/>
                </a:tc>
                <a:extLst>
                  <a:ext uri="{0D108BD9-81ED-4DB2-BD59-A6C34878D82A}">
                    <a16:rowId xmlns:a16="http://schemas.microsoft.com/office/drawing/2014/main" val="2204359539"/>
                  </a:ext>
                </a:extLst>
              </a:tr>
              <a:tr h="79472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LiposoMax</a:t>
                      </a:r>
                      <a:r>
                        <a:rPr lang="en-US" sz="1200" kern="100" dirty="0">
                          <a:effectLst/>
                        </a:rPr>
                        <a:t>®</a:t>
                      </a:r>
                      <a:endParaRPr lang="zh-TW" sz="12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 dirty="0">
                          <a:effectLst/>
                        </a:rPr>
                        <a:t>微脂體穀胱甘肽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250.0</a:t>
                      </a:r>
                      <a:r>
                        <a:rPr lang="zh-TW" sz="1200" kern="0" dirty="0">
                          <a:effectLst/>
                        </a:rPr>
                        <a:t>毫克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effectLst/>
                        </a:rPr>
                        <a:t>＊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extLst>
                  <a:ext uri="{0D108BD9-81ED-4DB2-BD59-A6C34878D82A}">
                    <a16:rowId xmlns:a16="http://schemas.microsoft.com/office/drawing/2014/main" val="3426141998"/>
                  </a:ext>
                </a:extLst>
              </a:tr>
              <a:tr h="79472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PureWay C®</a:t>
                      </a:r>
                      <a:endParaRPr lang="zh-TW" sz="12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</a:rPr>
                        <a:t>美國專利複方維生素</a:t>
                      </a:r>
                      <a:r>
                        <a:rPr lang="en-US" sz="1200" kern="100">
                          <a:effectLst/>
                        </a:rPr>
                        <a:t>C 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150.0</a:t>
                      </a:r>
                      <a:r>
                        <a:rPr lang="zh-TW" sz="1200" kern="100">
                          <a:effectLst/>
                        </a:rPr>
                        <a:t>毫克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＊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extLst>
                  <a:ext uri="{0D108BD9-81ED-4DB2-BD59-A6C34878D82A}">
                    <a16:rowId xmlns:a16="http://schemas.microsoft.com/office/drawing/2014/main" val="4122516011"/>
                  </a:ext>
                </a:extLst>
              </a:tr>
              <a:tr h="79472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Phytonoid®</a:t>
                      </a:r>
                      <a:endParaRPr lang="zh-TW" sz="12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</a:rPr>
                        <a:t>冰晶番茄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100.0</a:t>
                      </a:r>
                      <a:r>
                        <a:rPr lang="zh-TW" sz="1200" kern="0" dirty="0">
                          <a:effectLst/>
                        </a:rPr>
                        <a:t>毫克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>
                          <a:effectLst/>
                        </a:rPr>
                        <a:t>＊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extLst>
                  <a:ext uri="{0D108BD9-81ED-4DB2-BD59-A6C34878D82A}">
                    <a16:rowId xmlns:a16="http://schemas.microsoft.com/office/drawing/2014/main" val="522993936"/>
                  </a:ext>
                </a:extLst>
              </a:tr>
              <a:tr h="79472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Mesoporosil®</a:t>
                      </a:r>
                      <a:endParaRPr lang="zh-TW" sz="12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</a:rPr>
                        <a:t>正矽酸複合物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66.6</a:t>
                      </a:r>
                      <a:r>
                        <a:rPr lang="zh-TW" sz="1200" kern="0">
                          <a:effectLst/>
                        </a:rPr>
                        <a:t>毫克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effectLst/>
                        </a:rPr>
                        <a:t>＊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9525" marB="0" anchor="ctr"/>
                </a:tc>
                <a:extLst>
                  <a:ext uri="{0D108BD9-81ED-4DB2-BD59-A6C34878D82A}">
                    <a16:rowId xmlns:a16="http://schemas.microsoft.com/office/drawing/2014/main" val="261505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50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578</Words>
  <Application>Microsoft Office PowerPoint</Application>
  <PresentationFormat>寬螢幕</PresentationFormat>
  <Paragraphs>97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9" baseType="lpstr">
      <vt:lpstr>YACkoNusrzI_0</vt:lpstr>
      <vt:lpstr>游ゴシック</vt:lpstr>
      <vt:lpstr>華康粗黑體(P)</vt:lpstr>
      <vt:lpstr>華康粗圓體</vt:lpstr>
      <vt:lpstr>華康儷粗圓</vt:lpstr>
      <vt:lpstr>新細明體</vt:lpstr>
      <vt:lpstr>標楷體</vt:lpstr>
      <vt:lpstr>Arial</vt:lpstr>
      <vt:lpstr>Calibri</vt:lpstr>
      <vt:lpstr>Calibri Light</vt:lpstr>
      <vt:lpstr>Segoe UI</vt:lpstr>
      <vt:lpstr>Symbol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WinSys</dc:creator>
  <cp:lastModifiedBy>WinSys</cp:lastModifiedBy>
  <cp:revision>64</cp:revision>
  <dcterms:created xsi:type="dcterms:W3CDTF">2026-01-06T05:25:35Z</dcterms:created>
  <dcterms:modified xsi:type="dcterms:W3CDTF">2026-01-15T08:30:40Z</dcterms:modified>
</cp:coreProperties>
</file>